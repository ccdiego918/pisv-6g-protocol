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D9FB9F-2103-4A2B-B182-7D5A0C35B3CC}">
  <a:tblStyle styleId="{B1D9FB9F-2103-4A2B-B182-7D5A0C35B3C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slide" Target="slides/slide20.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Apertura sugerida: Nuestro proyecto estudia cómo verificar una imagen reconstruida por inteligencia artificial después de atravesar un canal ruidoso. Queremos tolerar cambios de reconstrucción y autenticar la referencia usada para decidir. El nombre inglés se conserva tal como lo define el proyecto.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imagen original se convierte en una representación numérica. Tras ruido y reconstrucción sus píxeles cambian. Una comparación exacta rechazaría también cambios legítimos. PISV separa la confianza en la referencia y la similitud de la reconstrucción. Mostrar que la tercera imagen es una sustitución de otra imagen real, no una alucinación generada. Imágenes reales de CIFAR-10 test, distribución uoft-cs/cifar10, y reconstrucciones del modelo original entrenado durante cinco épocas. </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40" name="Google Shape;4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IMT-2030 incluye el escenario AI and Communication. La relación específica con PISV es nuestra motivación de investigación, no una certificación de ITU ni una prueba de una red 6G real. El mismo esquema puede estudiarse sobre otros enlaces. No se simula frecuencia portadora, modulación, potencia normalizada ni una pila de red completa. Fuente externa: https://www.itu.int/rec/R-REC-M.2160/en y https://www.itu.int/en/ITU-R/study-groups/rsg5/rwp5d/imt-2030/pages/default.aspx</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55" name="Google Shape;5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Recorrer primero la ruta de datos, luego la referencia autenticada. El emisor calcula dHash de la original y HMAC de sus metadatos. El receptor valida HMAC, ID y nonce antes de calcular el dHash de la reconstrucción. El decoder puede reconstruir antes: lo que se pospone hasta autenticar es la comparación perceptual. El mensaje incluye versión y algoritmo además de ID, nonce y hash. Clave precompartida externa y entrega íntegra del control son supuestos. Los conectores y bloques son editables.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66" name="Google Shape;6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JSCC significa Joint Source-Channel Coding, codificación conjunta de fuente y canal. PISV implementa una CNN de encoder y otra de decoder, entrenadas juntas con ruido. El encoder no genera una etiqueta barco o auto. Produce una representación de valores reales. En el prototipo no hay cuantización ni medición de bits transmitidos. MSE es el error cuadrático medio de reconstrucción. Conv2d/ConvTranspose2d, BatchNorm y activaciones están en el notebook original. No afirmar garantía de significado semántico.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01" name="Google Shape;10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Ejemplo didáctico escalar, no una medición extraída del canal real de la imagen. El código suma torch.randn_like(x)*noise_power. Por eso noise_power es sigma. El ejemplo usa z=.70, una muestra estándar -.60, sigma=.20, ruido -.12 y salida .58. La varianza correspondiente es .04. El ruido se aplica al tensor latente, no directamente a la foto. No hay SNR en dB porque no se calcula una relación señal/ruido física.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20" name="Google Shape;12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dHash de ImageHash convierte a luminancia, redimensiona a ancho 9 y alto 8 usando el filtro de la biblioteca y compara cada píxel con su vecino derecho. Se escribe 1 si el de la derecha es mayor, 0 en otro caso. Son ocho comparaciones por fila y ocho filas: 64 bits. La resta de objetos ImageHash da distancia Hamming. Este resumen sirve como señal perceptual para detectar ciertas diferencias, pero por sí solo no autentica y puede ignorar cambios importantes. Fuente primaria: código local ImageHash 4.3.2, función dhash, y https://github.com/JohannesBuchner/imagehash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31" name="Google Shape;13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Ejemplo didáctico de ocho bits: 10110010 y 10010011 difieren en posiciones 3 y 8, numeradas desde uno. Hamming es 2. Con un umbral de ejemplo de 2 se acepta porque la condición es inclusiva. El proyecto usa huellas de 64 bits y umbrales experimentales 14/2, además de 10 en la demostración inicial. Menor distancia indica semejanza de huellas, no porcentaje de significado preservado.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45" name="Google Shape;14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HMAC usa una clave secreta y el mensaje para producir una etiqueta de autenticación. PISV serializa los campos en JSON canónico y usa hmac.new con hashlib.sha256. El receptor recalcula y usa hmac.compare_digest. El hash original, ID, nonce, versión y algoritmo están cubiertos. La clave no viaja junto con la referencia. HMAC no cifra ni aporta confidencialidad a las imágenes. Solo quien conoce la clave puede generar referencias que se esperan válidas, bajo los supuestos de HMAC. Fuente: https://docs.python.org/3/library/hmac.html y pisv_verificacion.py.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56" name="Google Shape;15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El ID esperado debe proceder de un contexto confiable. El nonce identifica una referencia para detectar repetición en una sesión, no representa cifrado ni demuestra frescura sin estado. El código conserva una pareja ID,nonce en un set y consume la referencia aun si la comparación visual falla. Si nonces_vistos es None no hay protección entre llamadas. En una aplicación real hay que conservar y gestionar ese estado. Las 14 pruebas cubrieron falsificación, replay, clave errónea y fronteras de decisión.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68" name="Google Shape;16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Seguimos CIFAR-10 test índice 310. Se usa el primer par de pares_benchmark.npz del experimento, no una imagen generada para las diapositivas. Encoder y decoder conservan los pesos entrenados. El hash original es 00000c0693df8f13. Para esta explicación se creó una referencia HMAC con clave de laboratorio no mostrada. ID test-310. Nonce: ce287c5caea9bcf1cd808c00b3791af5. Tag: 52bd0760e8bee4827551b107cd78f3e8ac225ab4d57c3804e4b9b2ce9ded3588. La creación de esta referencia no cambia el resultado de dHash. Imágenes reales de CIFAR-10 test, distribución uoft-cs/cifar10, y reconstrucciones del modelo original entrenado durante cinco épocas. </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185" name="Google Shape;18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Mismo ejemplo de la imagen 310. La reconstrucción almacenada viene del canal gaussiano sigma .2. La referencia auténtica creada para el ejemplo valida correctamente. Al comparar su dHash con el original, la distancia Hamming es 5. El umbral 14 acepta el resultado. Mostrar que la imagen reconstruida no es idéntica píxel a píxel. Resultado de verificación ejecutado en extraer_ejemplo.py y cotejado con pares_benchmark.npz. La aceptación no demuestra igualdad de significado. Imágenes reales de CIFAR-10 test, distribución uoft-cs/cifar10, y reconstrucciones del modelo original entrenado durante cinco épocas. </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01" name="Google Shape;20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sustitución corresponde a CIFAR-10 test índice 9584, emparejado de forma fija con la imagen 310 en la evaluación. Conservando la referencia legítima, el HMAC pasa pero Hamming da 33 y supera el umbral 14. Al modificar un bit del hash en los metadatos sin actualizar HMAC, la autenticación falla y no se calcula la distancia. Al repetir la referencia con estado conservado, el receptor rechaza por replay. Estos son escenarios separados con estado independiente cuando corresponde. Imágenes reales de CIFAR-10 test, distribución uoft-cs/cifar10, y reconstrucciones del modelo original entrenado durante cinco épocas. </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16" name="Google Shape;21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Resultado masivo: sigma .2, umbral 14, 1000 originales únicos y 1000 sustitutos distintos. El conjunto de calibración contiene otros 1000 ejemplos. Entrenamiento con 50000 imágenes train, sin solapamiento de índices con test. Exactitud agregada de dos grupos:99.8%. No hace falta presentarla como garantía. FAR=0/1000 observados, no probabilidad poblacional cero. Una semilla y CIFAR10 delimitan el resultado. Fuentes: masivo.json, particiones.json, entrenamiento.json.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27" name="Google Shape;22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Mismas 1000 imágenes en diez niveles de sigma .1 a1, mismas realizaciones normalizadas de ruido escaladas por sigma, umbral14 fijo. Valores tomados de ruido.json. A sigma1 la aceptación es86.6%, FRR13.4%. El rechazo de sustitución no se grafica como seguridad frente a ruido, porque las fotos sustitutas se toman directamente del dataset y no dependen del canal. La curva muestra tolerancia experimental, sin medir SNR ni inferir radio6G.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41" name="Google Shape;24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La región central 8x8 se invierte con x=1-x después de reconstruir. En el ejemplo índice310 la distancia dHash es6, HMACválido y umbral14, por lo que se acepta pese a la modificación visible. En1000imágenes la aceptación de estos parches fue95.1%. HMAC sigue funcionando: nadie cambió la referencia ni su tag. La debilidad está en la tolerancia del resumen perceptual. No se etiquetó significado humano, así que no presentar95.1% como errores semánticos certificados. Fuente: alteraciones.json y ejemplo real ejecutado. Imágenes reales de CIFAR-10 test, distribución uoft-cs/cifar10, y reconstrucciones del modelo original entrenado durante cinco épocas. </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54" name="Google Shape;25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FGSM modifica la entrada antes del encoder con epsilon 0,05. Conserva el objetivo original MSE(f(x),x), con gradiente por ambas dependencias de x. Se prueban 200 imágenes a sigma 0,2, con ruido pareado entre cada original y su perturbación. El umbral 14 rechaza 2,5 % de FGSM y 0,5 % de legítimas. El umbral 2 rechaza 86 % de FGSM, pero también 58 % de legítimas. Rechazar más imágenes por sí solo no demuestra una defensa útil. El ataque no optimiza la evasión de dHash. Fuente: fgsm.json.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68" name="Google Shape;26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Comparación externa con cuatro huellas de 64 bits. La calibración usa 1000 imágenes legítimas independientes, a sigma 0,2. Para cada alternativa se elige el menor umbral entero que alcance al menos la aceptación de dHash en validación. Los umbrales son 14, 8, 7 y 14. La tabla muestra 1000 pruebas legítimas y 1000 parches. pHash detecta más parches a esta condición. Con sigma 1, dHash acepta 86,6 % de legítimas y pHash 76,9 %. Por eso no hay un ganador universal. PISV conserva dHash. Fuentes: calibracion.json, alteraciones.json y ruido.json.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79" name="Google Shape;27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Resumen para preguntas. Python coordina la ejecución. PyTorch implementa las redes y calcula gradientes para entrenarlas. Torchvision carga CIFAR-10 y aplica ToTensor. NumPy trabaja con matrices y Pillow con formatos de imagen. ImageHash implementa las huellas perceptuales. Los módulos estándar hmac, hashlib y secrets proporcionan autenticación y aleatoriedad para claves y nonces. El mensaje usa JSON canónico. Matplotlib muestra gráficas y scikit-image calcula SSIM solo para el benchmark. Distinguir bibliotecas de algoritmos al explicarlo.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89" name="Google Shape;289;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Cierre sugerido: Presentamos un prototipo que autentica una referencia y verifica la similitud perceptual de imágenes reconstruidas bajo ruido. Los experimentos muestran alta aceptación legítima y rechazo de sustituciones aleatorias. También muestran que cambios localizados pueden pasar. Esa evidencia delimita el aporte científico y orienta trabajo futuro. No requiere prometer un protocolo 6G completo. HMAC es un componente estandarizado y JSCC/dHash son componentes conocidos; la investigación evalúa su aplicación conjunta en este escenario.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Fuente del proyecto: PISV_v1_2_validado.ipynb y resultados_v1_2, ejecución del 11 de octubre de 2026. Arquitectura original de PISV_v1_1_minimo.ipynb. Archivos en /Users/dpc/Documents/Codex/2026-10-08/se-x20/outputs/PISV_v1_2_validado/. </a:t>
            </a:r>
            <a:endParaRPr/>
          </a:p>
        </p:txBody>
      </p:sp>
      <p:sp>
        <p:nvSpPr>
          <p:cNvPr id="298" name="Google Shape;29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Helvetica Neue"/>
              <a:buNone/>
              <a:defRPr b="0" i="0" sz="4400" u="none" cap="none" strike="noStrike">
                <a:solidFill>
                  <a:schemeClr val="dk1"/>
                </a:solidFill>
                <a:latin typeface="Helvetica Neue"/>
                <a:ea typeface="Helvetica Neue"/>
                <a:cs typeface="Helvetica Neue"/>
                <a:sym typeface="Helvetica Neue"/>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Helvetica Neue"/>
              <a:buNone/>
              <a:defRPr b="0" i="0" sz="2800" u="none" cap="none" strike="noStrike">
                <a:solidFill>
                  <a:schemeClr val="dk1"/>
                </a:solidFill>
                <a:latin typeface="Helvetica Neue"/>
                <a:ea typeface="Helvetica Neue"/>
                <a:cs typeface="Helvetica Neue"/>
                <a:sym typeface="Helvetica Neue"/>
              </a:defRPr>
            </a:lvl1pPr>
            <a:lvl2pPr lvl="1" marR="0" rtl="0" algn="l">
              <a:lnSpc>
                <a:spcPct val="110000"/>
              </a:lnSpc>
              <a:spcBef>
                <a:spcPts val="0"/>
              </a:spcBef>
              <a:spcAft>
                <a:spcPts val="0"/>
              </a:spcAft>
              <a:buClr>
                <a:schemeClr val="dk1"/>
              </a:buClr>
              <a:buSzPts val="2400"/>
              <a:buFont typeface="Helvetica Neue"/>
              <a:buNone/>
              <a:defRPr b="0" i="0" sz="2400" u="none" cap="none" strike="noStrike">
                <a:solidFill>
                  <a:schemeClr val="dk1"/>
                </a:solidFill>
                <a:latin typeface="Helvetica Neue"/>
                <a:ea typeface="Helvetica Neue"/>
                <a:cs typeface="Helvetica Neue"/>
                <a:sym typeface="Helvetica Neue"/>
              </a:defRPr>
            </a:lvl2pPr>
            <a:lvl3pPr lvl="2" marR="0" rtl="0" algn="l">
              <a:lnSpc>
                <a:spcPct val="110000"/>
              </a:lnSpc>
              <a:spcBef>
                <a:spcPts val="0"/>
              </a:spcBef>
              <a:spcAft>
                <a:spcPts val="0"/>
              </a:spcAft>
              <a:buClr>
                <a:schemeClr val="dk1"/>
              </a:buClr>
              <a:buSzPts val="2000"/>
              <a:buFont typeface="Helvetica Neue"/>
              <a:buNone/>
              <a:defRPr b="0" i="0" sz="2000" u="none" cap="none" strike="noStrike">
                <a:solidFill>
                  <a:schemeClr val="dk1"/>
                </a:solidFill>
                <a:latin typeface="Helvetica Neue"/>
                <a:ea typeface="Helvetica Neue"/>
                <a:cs typeface="Helvetica Neue"/>
                <a:sym typeface="Helvetica Neue"/>
              </a:defRPr>
            </a:lvl3pPr>
            <a:lvl4pPr lvl="3" marR="0" rtl="0" algn="l">
              <a:lnSpc>
                <a:spcPct val="110000"/>
              </a:lnSpc>
              <a:spcBef>
                <a:spcPts val="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4pPr>
            <a:lvl5pPr lvl="4" marR="0" rtl="0" algn="l">
              <a:lnSpc>
                <a:spcPct val="110000"/>
              </a:lnSpc>
              <a:spcBef>
                <a:spcPts val="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5pPr>
            <a:lvl6pPr lvl="5" marR="0" rtl="0" algn="l">
              <a:lnSpc>
                <a:spcPct val="110000"/>
              </a:lnSpc>
              <a:spcBef>
                <a:spcPts val="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6pPr>
            <a:lvl7pPr lvl="6" marR="0" rtl="0" algn="l">
              <a:lnSpc>
                <a:spcPct val="110000"/>
              </a:lnSpc>
              <a:spcBef>
                <a:spcPts val="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7pPr>
            <a:lvl8pPr lvl="7" marR="0" rtl="0" algn="l">
              <a:lnSpc>
                <a:spcPct val="110000"/>
              </a:lnSpc>
              <a:spcBef>
                <a:spcPts val="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8pPr>
            <a:lvl9pPr lvl="8" marR="0" rtl="0" algn="l">
              <a:lnSpc>
                <a:spcPct val="110000"/>
              </a:lnSpc>
              <a:spcBef>
                <a:spcPts val="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Helvetica Neue"/>
              <a:buNone/>
              <a:defRPr b="0" i="0" sz="4400" u="none" cap="none" strike="noStrike">
                <a:solidFill>
                  <a:schemeClr val="dk1"/>
                </a:solidFill>
                <a:latin typeface="Helvetica Neue"/>
                <a:ea typeface="Helvetica Neue"/>
                <a:cs typeface="Helvetica Neue"/>
                <a:sym typeface="Helvetica Neue"/>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Helvetica Neue"/>
              <a:buNone/>
              <a:defRPr b="0" i="0" sz="4400" u="none" cap="none" strike="noStrike">
                <a:solidFill>
                  <a:schemeClr val="dk1"/>
                </a:solidFill>
                <a:latin typeface="Helvetica Neue"/>
                <a:ea typeface="Helvetica Neue"/>
                <a:cs typeface="Helvetica Neue"/>
                <a:sym typeface="Helvetica Neue"/>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Helvetica Neue"/>
              <a:buChar char="•"/>
              <a:defRPr b="0" i="0" sz="2800" u="none" cap="none" strike="noStrike">
                <a:solidFill>
                  <a:schemeClr val="dk1"/>
                </a:solidFill>
                <a:latin typeface="Helvetica Neue"/>
                <a:ea typeface="Helvetica Neue"/>
                <a:cs typeface="Helvetica Neue"/>
                <a:sym typeface="Helvetica Neue"/>
              </a:defRPr>
            </a:lvl1pPr>
            <a:lvl2pPr indent="-381000" lvl="1" marL="914400" marR="0" rtl="0" algn="l">
              <a:lnSpc>
                <a:spcPct val="110000"/>
              </a:lnSpc>
              <a:spcBef>
                <a:spcPts val="1200"/>
              </a:spcBef>
              <a:spcAft>
                <a:spcPts val="0"/>
              </a:spcAft>
              <a:buClr>
                <a:schemeClr val="dk1"/>
              </a:buClr>
              <a:buSzPts val="2400"/>
              <a:buFont typeface="Helvetica Neue"/>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110000"/>
              </a:lnSpc>
              <a:spcBef>
                <a:spcPts val="12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lnSpc>
                <a:spcPct val="110000"/>
              </a:lnSpc>
              <a:spcBef>
                <a:spcPts val="1200"/>
              </a:spcBef>
              <a:spcAft>
                <a:spcPts val="120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Helvetica Neue"/>
              <a:buNone/>
              <a:defRPr b="0" i="0" sz="4400" u="none" cap="none" strike="noStrike">
                <a:solidFill>
                  <a:schemeClr val="dk1"/>
                </a:solidFill>
                <a:latin typeface="Helvetica Neue"/>
                <a:ea typeface="Helvetica Neue"/>
                <a:cs typeface="Helvetica Neue"/>
                <a:sym typeface="Helvetica Neue"/>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Helvetica Neue"/>
              <a:buChar char="•"/>
              <a:defRPr b="0" i="0" sz="2800" u="none" cap="none" strike="noStrike">
                <a:solidFill>
                  <a:schemeClr val="dk1"/>
                </a:solidFill>
                <a:latin typeface="Helvetica Neue"/>
                <a:ea typeface="Helvetica Neue"/>
                <a:cs typeface="Helvetica Neue"/>
                <a:sym typeface="Helvetica Neue"/>
              </a:defRPr>
            </a:lvl1pPr>
            <a:lvl2pPr indent="-381000" lvl="1" marL="914400" marR="0" rtl="0" algn="l">
              <a:lnSpc>
                <a:spcPct val="110000"/>
              </a:lnSpc>
              <a:spcBef>
                <a:spcPts val="1200"/>
              </a:spcBef>
              <a:spcAft>
                <a:spcPts val="0"/>
              </a:spcAft>
              <a:buClr>
                <a:schemeClr val="dk1"/>
              </a:buClr>
              <a:buSzPts val="2400"/>
              <a:buFont typeface="Helvetica Neue"/>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110000"/>
              </a:lnSpc>
              <a:spcBef>
                <a:spcPts val="12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lnSpc>
                <a:spcPct val="110000"/>
              </a:lnSpc>
              <a:spcBef>
                <a:spcPts val="1200"/>
              </a:spcBef>
              <a:spcAft>
                <a:spcPts val="120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Helvetica Neue"/>
              <a:buChar char="•"/>
              <a:defRPr b="0" i="0" sz="2800" u="none" cap="none" strike="noStrike">
                <a:solidFill>
                  <a:schemeClr val="dk1"/>
                </a:solidFill>
                <a:latin typeface="Helvetica Neue"/>
                <a:ea typeface="Helvetica Neue"/>
                <a:cs typeface="Helvetica Neue"/>
                <a:sym typeface="Helvetica Neue"/>
              </a:defRPr>
            </a:lvl1pPr>
            <a:lvl2pPr indent="-381000" lvl="1" marL="914400" marR="0" rtl="0" algn="l">
              <a:lnSpc>
                <a:spcPct val="110000"/>
              </a:lnSpc>
              <a:spcBef>
                <a:spcPts val="1200"/>
              </a:spcBef>
              <a:spcAft>
                <a:spcPts val="0"/>
              </a:spcAft>
              <a:buClr>
                <a:schemeClr val="dk1"/>
              </a:buClr>
              <a:buSzPts val="2400"/>
              <a:buFont typeface="Helvetica Neue"/>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110000"/>
              </a:lnSpc>
              <a:spcBef>
                <a:spcPts val="12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lnSpc>
                <a:spcPct val="110000"/>
              </a:lnSpc>
              <a:spcBef>
                <a:spcPts val="1200"/>
              </a:spcBef>
              <a:spcAft>
                <a:spcPts val="120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Helvetica Neue"/>
              <a:buNone/>
              <a:defRPr b="0" i="0" sz="4400" u="none" cap="none" strike="noStrike">
                <a:solidFill>
                  <a:schemeClr val="dk1"/>
                </a:solidFill>
                <a:latin typeface="Helvetica Neue"/>
                <a:ea typeface="Helvetica Neue"/>
                <a:cs typeface="Helvetica Neue"/>
                <a:sym typeface="Helvetica Neue"/>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Helvetica Neue"/>
              <a:buChar char="•"/>
              <a:defRPr b="0" i="0" sz="2800" u="none" cap="none" strike="noStrike">
                <a:solidFill>
                  <a:schemeClr val="dk1"/>
                </a:solidFill>
                <a:latin typeface="Helvetica Neue"/>
                <a:ea typeface="Helvetica Neue"/>
                <a:cs typeface="Helvetica Neue"/>
                <a:sym typeface="Helvetica Neue"/>
              </a:defRPr>
            </a:lvl1pPr>
            <a:lvl2pPr indent="-381000" lvl="1" marL="914400" marR="0" rtl="0" algn="l">
              <a:lnSpc>
                <a:spcPct val="110000"/>
              </a:lnSpc>
              <a:spcBef>
                <a:spcPts val="1200"/>
              </a:spcBef>
              <a:spcAft>
                <a:spcPts val="0"/>
              </a:spcAft>
              <a:buClr>
                <a:schemeClr val="dk1"/>
              </a:buClr>
              <a:buSzPts val="2400"/>
              <a:buFont typeface="Helvetica Neue"/>
              <a:buChar char="•"/>
              <a:defRPr b="0" i="0" sz="2400" u="none" cap="none" strike="noStrike">
                <a:solidFill>
                  <a:schemeClr val="dk1"/>
                </a:solidFill>
                <a:latin typeface="Helvetica Neue"/>
                <a:ea typeface="Helvetica Neue"/>
                <a:cs typeface="Helvetica Neue"/>
                <a:sym typeface="Helvetica Neue"/>
              </a:defRPr>
            </a:lvl2pPr>
            <a:lvl3pPr indent="-355600" lvl="2" marL="1371600" marR="0" rtl="0" algn="l">
              <a:lnSpc>
                <a:spcPct val="110000"/>
              </a:lnSpc>
              <a:spcBef>
                <a:spcPts val="12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3pPr>
            <a:lvl4pPr indent="-342900" lvl="3" marL="18288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lnSpc>
                <a:spcPct val="110000"/>
              </a:lnSpc>
              <a:spcBef>
                <a:spcPts val="1200"/>
              </a:spcBef>
              <a:spcAft>
                <a:spcPts val="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lnSpc>
                <a:spcPct val="110000"/>
              </a:lnSpc>
              <a:spcBef>
                <a:spcPts val="1200"/>
              </a:spcBef>
              <a:spcAft>
                <a:spcPts val="1200"/>
              </a:spcAft>
              <a:buClr>
                <a:schemeClr val="dk1"/>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E39"/>
        </a:solidFill>
      </p:bgPr>
    </p:bg>
    <p:spTree>
      <p:nvGrpSpPr>
        <p:cNvPr id="30" name="Shape 30"/>
        <p:cNvGrpSpPr/>
        <p:nvPr/>
      </p:nvGrpSpPr>
      <p:grpSpPr>
        <a:xfrm>
          <a:off x="0" y="0"/>
          <a:ext cx="0" cy="0"/>
          <a:chOff x="0" y="0"/>
          <a:chExt cx="0" cy="0"/>
        </a:xfrm>
      </p:grpSpPr>
      <p:sp>
        <p:nvSpPr>
          <p:cNvPr id="31" name="Google Shape;31;p8"/>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FFFFFF"/>
                </a:solidFill>
                <a:latin typeface="Helvetica Neue"/>
                <a:ea typeface="Helvetica Neue"/>
                <a:cs typeface="Helvetica Neue"/>
                <a:sym typeface="Helvetica Neue"/>
              </a:rPr>
              <a:t>PISV</a:t>
            </a:r>
            <a:endParaRPr/>
          </a:p>
        </p:txBody>
      </p:sp>
      <p:sp>
        <p:nvSpPr>
          <p:cNvPr id="32" name="Google Shape;32;p8"/>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ADC9D0"/>
                </a:solidFill>
                <a:latin typeface="Helvetica Neue"/>
                <a:ea typeface="Helvetica Neue"/>
                <a:cs typeface="Helvetica Neue"/>
                <a:sym typeface="Helvetica Neue"/>
              </a:rPr>
              <a:t>01</a:t>
            </a:r>
            <a:endParaRPr/>
          </a:p>
        </p:txBody>
      </p:sp>
      <p:sp>
        <p:nvSpPr>
          <p:cNvPr id="33" name="Google Shape;33;p8"/>
          <p:cNvSpPr/>
          <p:nvPr/>
        </p:nvSpPr>
        <p:spPr>
          <a:xfrm>
            <a:off x="628650" y="1885950"/>
            <a:ext cx="10763250" cy="1657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650">
                <a:solidFill>
                  <a:srgbClr val="FFFFFF"/>
                </a:solidFill>
                <a:latin typeface="Helvetica Neue"/>
                <a:ea typeface="Helvetica Neue"/>
                <a:cs typeface="Helvetica Neue"/>
                <a:sym typeface="Helvetica Neue"/>
              </a:rPr>
              <a:t>Verificación perceptual</a:t>
            </a:r>
            <a:endParaRPr/>
          </a:p>
          <a:p>
            <a:pPr indent="0" lvl="0" marL="0" marR="0" rtl="0" algn="l">
              <a:spcBef>
                <a:spcPts val="0"/>
              </a:spcBef>
              <a:spcAft>
                <a:spcPts val="0"/>
              </a:spcAft>
              <a:buNone/>
            </a:pPr>
            <a:r>
              <a:rPr b="1" lang="en-US" sz="4650">
                <a:solidFill>
                  <a:srgbClr val="FFFFFF"/>
                </a:solidFill>
                <a:latin typeface="Helvetica Neue"/>
                <a:ea typeface="Helvetica Neue"/>
                <a:cs typeface="Helvetica Neue"/>
                <a:sym typeface="Helvetica Neue"/>
              </a:rPr>
              <a:t>de imágenes reconstruidas</a:t>
            </a:r>
            <a:endParaRPr/>
          </a:p>
        </p:txBody>
      </p:sp>
      <p:sp>
        <p:nvSpPr>
          <p:cNvPr id="34" name="Google Shape;34;p8"/>
          <p:cNvSpPr/>
          <p:nvPr/>
        </p:nvSpPr>
        <p:spPr>
          <a:xfrm>
            <a:off x="666750" y="3876675"/>
            <a:ext cx="10477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A6D8D2"/>
                </a:solidFill>
                <a:latin typeface="Helvetica Neue"/>
                <a:ea typeface="Helvetica Neue"/>
                <a:cs typeface="Helvetica Neue"/>
                <a:sym typeface="Helvetica Neue"/>
              </a:rPr>
              <a:t>Perceptual Integrity and Semantic Verification</a:t>
            </a:r>
            <a:endParaRPr/>
          </a:p>
        </p:txBody>
      </p:sp>
      <p:sp>
        <p:nvSpPr>
          <p:cNvPr id="35" name="Google Shape;35;p8"/>
          <p:cNvSpPr/>
          <p:nvPr/>
        </p:nvSpPr>
        <p:spPr>
          <a:xfrm>
            <a:off x="666750" y="4724400"/>
            <a:ext cx="10096500" cy="53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FFFFFF"/>
                </a:solidFill>
                <a:latin typeface="Helvetica Neue"/>
                <a:ea typeface="Helvetica Neue"/>
                <a:cs typeface="Helvetica Neue"/>
                <a:sym typeface="Helvetica Neue"/>
              </a:rPr>
              <a:t>Teoría, funcionamiento y ejemplo real del protocolo</a:t>
            </a:r>
            <a:endParaRPr/>
          </a:p>
        </p:txBody>
      </p:sp>
      <p:sp>
        <p:nvSpPr>
          <p:cNvPr id="36" name="Google Shape;36;p8"/>
          <p:cNvSpPr/>
          <p:nvPr/>
        </p:nvSpPr>
        <p:spPr>
          <a:xfrm>
            <a:off x="666750" y="5838825"/>
            <a:ext cx="102870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75">
                <a:solidFill>
                  <a:srgbClr val="ADC9D0"/>
                </a:solidFill>
                <a:latin typeface="Helvetica Neue"/>
                <a:ea typeface="Helvetica Neue"/>
                <a:cs typeface="Helvetica Neue"/>
                <a:sym typeface="Helvetica Neue"/>
              </a:rPr>
              <a:t>MuestraTech. Investigación en comunicaciones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41" name="Shape 41"/>
        <p:cNvGrpSpPr/>
        <p:nvPr/>
      </p:nvGrpSpPr>
      <p:grpSpPr>
        <a:xfrm>
          <a:off x="0" y="0"/>
          <a:ext cx="0" cy="0"/>
          <a:chOff x="0" y="0"/>
          <a:chExt cx="0" cy="0"/>
        </a:xfrm>
      </p:grpSpPr>
      <p:sp>
        <p:nvSpPr>
          <p:cNvPr id="42" name="Google Shape;42;p9"/>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El problema de confianza</a:t>
            </a:r>
            <a:endParaRPr/>
          </a:p>
        </p:txBody>
      </p:sp>
      <p:sp>
        <p:nvSpPr>
          <p:cNvPr id="43" name="Google Shape;43;p9"/>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02</a:t>
            </a:r>
            <a:endParaRPr/>
          </a:p>
        </p:txBody>
      </p:sp>
      <p:pic>
        <p:nvPicPr>
          <p:cNvPr id="44" name="Google Shape;44;p9"/>
          <p:cNvPicPr preferRelativeResize="0"/>
          <p:nvPr/>
        </p:nvPicPr>
        <p:blipFill rotWithShape="1">
          <a:blip r:embed="rId3">
            <a:alphaModFix/>
          </a:blip>
          <a:srcRect b="0" l="0" r="0" t="0"/>
          <a:stretch/>
        </p:blipFill>
        <p:spPr>
          <a:xfrm>
            <a:off x="952500" y="1714500"/>
            <a:ext cx="2571750" cy="2571750"/>
          </a:xfrm>
          <a:prstGeom prst="rect">
            <a:avLst/>
          </a:prstGeom>
          <a:noFill/>
          <a:ln>
            <a:noFill/>
          </a:ln>
        </p:spPr>
      </p:pic>
      <p:sp>
        <p:nvSpPr>
          <p:cNvPr id="45" name="Google Shape;45;p9"/>
          <p:cNvSpPr/>
          <p:nvPr/>
        </p:nvSpPr>
        <p:spPr>
          <a:xfrm>
            <a:off x="666750" y="4457700"/>
            <a:ext cx="3238500" cy="4286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25">
                <a:solidFill>
                  <a:srgbClr val="122A35"/>
                </a:solidFill>
                <a:latin typeface="Helvetica Neue"/>
                <a:ea typeface="Helvetica Neue"/>
                <a:cs typeface="Helvetica Neue"/>
                <a:sym typeface="Helvetica Neue"/>
              </a:rPr>
              <a:t>Original</a:t>
            </a:r>
            <a:endParaRPr/>
          </a:p>
        </p:txBody>
      </p:sp>
      <p:pic>
        <p:nvPicPr>
          <p:cNvPr id="46" name="Google Shape;46;p9"/>
          <p:cNvPicPr preferRelativeResize="0"/>
          <p:nvPr/>
        </p:nvPicPr>
        <p:blipFill rotWithShape="1">
          <a:blip r:embed="rId4">
            <a:alphaModFix/>
          </a:blip>
          <a:srcRect b="0" l="0" r="0" t="0"/>
          <a:stretch/>
        </p:blipFill>
        <p:spPr>
          <a:xfrm>
            <a:off x="4762500" y="1714500"/>
            <a:ext cx="2571750" cy="2571750"/>
          </a:xfrm>
          <a:prstGeom prst="rect">
            <a:avLst/>
          </a:prstGeom>
          <a:noFill/>
          <a:ln>
            <a:noFill/>
          </a:ln>
        </p:spPr>
      </p:pic>
      <p:sp>
        <p:nvSpPr>
          <p:cNvPr id="47" name="Google Shape;47;p9"/>
          <p:cNvSpPr/>
          <p:nvPr/>
        </p:nvSpPr>
        <p:spPr>
          <a:xfrm>
            <a:off x="4476750" y="4457700"/>
            <a:ext cx="3238500" cy="4286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25">
                <a:solidFill>
                  <a:srgbClr val="122A35"/>
                </a:solidFill>
                <a:latin typeface="Helvetica Neue"/>
                <a:ea typeface="Helvetica Neue"/>
                <a:cs typeface="Helvetica Neue"/>
                <a:sym typeface="Helvetica Neue"/>
              </a:rPr>
              <a:t>Reconstrucción legítima</a:t>
            </a:r>
            <a:endParaRPr/>
          </a:p>
        </p:txBody>
      </p:sp>
      <p:pic>
        <p:nvPicPr>
          <p:cNvPr id="48" name="Google Shape;48;p9"/>
          <p:cNvPicPr preferRelativeResize="0"/>
          <p:nvPr/>
        </p:nvPicPr>
        <p:blipFill rotWithShape="1">
          <a:blip r:embed="rId5">
            <a:alphaModFix/>
          </a:blip>
          <a:srcRect b="0" l="0" r="0" t="0"/>
          <a:stretch/>
        </p:blipFill>
        <p:spPr>
          <a:xfrm>
            <a:off x="8572500" y="1714500"/>
            <a:ext cx="2571750" cy="2571750"/>
          </a:xfrm>
          <a:prstGeom prst="rect">
            <a:avLst/>
          </a:prstGeom>
          <a:noFill/>
          <a:ln>
            <a:noFill/>
          </a:ln>
        </p:spPr>
      </p:pic>
      <p:sp>
        <p:nvSpPr>
          <p:cNvPr id="49" name="Google Shape;49;p9"/>
          <p:cNvSpPr/>
          <p:nvPr/>
        </p:nvSpPr>
        <p:spPr>
          <a:xfrm>
            <a:off x="8286750" y="4457700"/>
            <a:ext cx="3238500" cy="4286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025">
                <a:solidFill>
                  <a:srgbClr val="122A35"/>
                </a:solidFill>
                <a:latin typeface="Helvetica Neue"/>
                <a:ea typeface="Helvetica Neue"/>
                <a:cs typeface="Helvetica Neue"/>
                <a:sym typeface="Helvetica Neue"/>
              </a:rPr>
              <a:t>Sustitución de imagen</a:t>
            </a:r>
            <a:endParaRPr/>
          </a:p>
        </p:txBody>
      </p:sp>
      <p:sp>
        <p:nvSpPr>
          <p:cNvPr id="50" name="Google Shape;50;p9"/>
          <p:cNvSpPr/>
          <p:nvPr/>
        </p:nvSpPr>
        <p:spPr>
          <a:xfrm>
            <a:off x="619125" y="5219700"/>
            <a:ext cx="1076325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007F7A"/>
                </a:solidFill>
                <a:latin typeface="Helvetica Neue"/>
                <a:ea typeface="Helvetica Neue"/>
                <a:cs typeface="Helvetica Neue"/>
                <a:sym typeface="Helvetica Neue"/>
              </a:rPr>
              <a:t>La reconstrucción puede cambiar y seguir siendo útil.</a:t>
            </a:r>
            <a:endParaRPr/>
          </a:p>
        </p:txBody>
      </p:sp>
      <p:sp>
        <p:nvSpPr>
          <p:cNvPr id="51" name="Google Shape;51;p9"/>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PISV autentica la referencia y compara la huella perceptual de la imagen recibida.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56" name="Shape 56"/>
        <p:cNvGrpSpPr/>
        <p:nvPr/>
      </p:nvGrpSpPr>
      <p:grpSpPr>
        <a:xfrm>
          <a:off x="0" y="0"/>
          <a:ext cx="0" cy="0"/>
          <a:chOff x="0" y="0"/>
          <a:chExt cx="0" cy="0"/>
        </a:xfrm>
      </p:grpSpPr>
      <p:sp>
        <p:nvSpPr>
          <p:cNvPr id="57" name="Google Shape;57;p10"/>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Relación con comunicaciones </a:t>
            </a:r>
            <a:endParaRPr b="1" sz="3300">
              <a:solidFill>
                <a:srgbClr val="122A35"/>
              </a:solidFill>
              <a:latin typeface="Helvetica Neue"/>
              <a:ea typeface="Helvetica Neue"/>
              <a:cs typeface="Helvetica Neue"/>
              <a:sym typeface="Helvetica Neue"/>
            </a:endParaRPr>
          </a:p>
          <a:p>
            <a:pPr indent="0" lvl="0" marL="0" marR="0" rtl="0" algn="l">
              <a:spcBef>
                <a:spcPts val="0"/>
              </a:spcBef>
              <a:spcAft>
                <a:spcPts val="0"/>
              </a:spcAft>
              <a:buNone/>
            </a:pPr>
            <a:r>
              <a:t/>
            </a:r>
            <a:endParaRPr b="1" sz="3300">
              <a:solidFill>
                <a:srgbClr val="122A35"/>
              </a:solidFill>
              <a:latin typeface="Helvetica Neue"/>
              <a:ea typeface="Helvetica Neue"/>
              <a:cs typeface="Helvetica Neue"/>
              <a:sym typeface="Helvetica Neue"/>
            </a:endParaRPr>
          </a:p>
        </p:txBody>
      </p:sp>
      <p:sp>
        <p:nvSpPr>
          <p:cNvPr id="58" name="Google Shape;58;p10"/>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03</a:t>
            </a:r>
            <a:endParaRPr/>
          </a:p>
        </p:txBody>
      </p:sp>
      <p:sp>
        <p:nvSpPr>
          <p:cNvPr id="59" name="Google Shape;59;p10"/>
          <p:cNvSpPr/>
          <p:nvPr/>
        </p:nvSpPr>
        <p:spPr>
          <a:xfrm>
            <a:off x="628650" y="1743075"/>
            <a:ext cx="57150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007F7A"/>
                </a:solidFill>
                <a:latin typeface="Helvetica Neue"/>
                <a:ea typeface="Helvetica Neue"/>
                <a:cs typeface="Helvetica Neue"/>
                <a:sym typeface="Helvetica Neue"/>
              </a:rPr>
              <a:t>IA dentro de la comunicación</a:t>
            </a:r>
            <a:endParaRPr/>
          </a:p>
        </p:txBody>
      </p:sp>
      <p:sp>
        <p:nvSpPr>
          <p:cNvPr id="60" name="Google Shape;60;p10"/>
          <p:cNvSpPr/>
          <p:nvPr/>
        </p:nvSpPr>
        <p:spPr>
          <a:xfrm>
            <a:off x="628650" y="2505075"/>
            <a:ext cx="5286375" cy="1238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325">
                <a:solidFill>
                  <a:srgbClr val="122A35"/>
                </a:solidFill>
                <a:latin typeface="Helvetica Neue"/>
                <a:ea typeface="Helvetica Neue"/>
                <a:cs typeface="Helvetica Neue"/>
                <a:sym typeface="Helvetica Neue"/>
              </a:rPr>
              <a:t>El emisor y el receptor aprenden a representar y reconstruir imágenes.</a:t>
            </a:r>
            <a:endParaRPr/>
          </a:p>
        </p:txBody>
      </p:sp>
      <p:sp>
        <p:nvSpPr>
          <p:cNvPr id="61" name="Google Shape;61;p10"/>
          <p:cNvSpPr/>
          <p:nvPr/>
        </p:nvSpPr>
        <p:spPr>
          <a:xfrm>
            <a:off x="628650" y="4114800"/>
            <a:ext cx="5286375"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325">
                <a:solidFill>
                  <a:srgbClr val="122A35"/>
                </a:solidFill>
                <a:latin typeface="Helvetica Neue"/>
                <a:ea typeface="Helvetica Neue"/>
                <a:cs typeface="Helvetica Neue"/>
                <a:sym typeface="Helvetica Neue"/>
              </a:rPr>
              <a:t>La referencia autenticada permite evaluar lo que reconstruye el receptor.</a:t>
            </a:r>
            <a:endParaRPr/>
          </a:p>
        </p:txBody>
      </p:sp>
      <p:sp>
        <p:nvSpPr>
          <p:cNvPr id="62" name="Google Shape;62;p10"/>
          <p:cNvSpPr/>
          <p:nvPr/>
        </p:nvSpPr>
        <p:spPr>
          <a:xfrm>
            <a:off x="7124700" y="3819525"/>
            <a:ext cx="4191000" cy="10763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122A35"/>
                </a:solidFill>
                <a:latin typeface="Helvetica Neue"/>
                <a:ea typeface="Helvetica Neue"/>
                <a:cs typeface="Helvetica Neue"/>
                <a:sym typeface="Helvetica Neue"/>
              </a:rPr>
              <a:t>PISV explora un componente de verificación en ese contexto.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67" name="Shape 67"/>
        <p:cNvGrpSpPr/>
        <p:nvPr/>
      </p:nvGrpSpPr>
      <p:grpSpPr>
        <a:xfrm>
          <a:off x="0" y="0"/>
          <a:ext cx="0" cy="0"/>
          <a:chOff x="0" y="0"/>
          <a:chExt cx="0" cy="0"/>
        </a:xfrm>
      </p:grpSpPr>
      <p:cxnSp>
        <p:nvCxnSpPr>
          <p:cNvPr id="68" name="Google Shape;68;p11"/>
          <p:cNvCxnSpPr>
            <a:stCxn id="69" idx="2"/>
            <a:endCxn id="70" idx="0"/>
          </p:cNvCxnSpPr>
          <p:nvPr/>
        </p:nvCxnSpPr>
        <p:spPr>
          <a:xfrm>
            <a:off x="10606088" y="4829175"/>
            <a:ext cx="0" cy="543000"/>
          </a:xfrm>
          <a:prstGeom prst="straightConnector1">
            <a:avLst/>
          </a:prstGeom>
          <a:noFill/>
          <a:ln cap="flat" cmpd="sng" w="19050">
            <a:solidFill>
              <a:srgbClr val="007F7A"/>
            </a:solidFill>
            <a:prstDash val="solid"/>
            <a:round/>
            <a:headEnd len="sm" w="sm" type="none"/>
            <a:tailEnd len="med" w="med" type="stealth"/>
          </a:ln>
        </p:spPr>
      </p:cxnSp>
      <p:cxnSp>
        <p:nvCxnSpPr>
          <p:cNvPr id="71" name="Google Shape;71;p11"/>
          <p:cNvCxnSpPr>
            <a:stCxn id="72" idx="2"/>
            <a:endCxn id="73" idx="0"/>
          </p:cNvCxnSpPr>
          <p:nvPr/>
        </p:nvCxnSpPr>
        <p:spPr>
          <a:xfrm>
            <a:off x="7286625" y="4834000"/>
            <a:ext cx="0" cy="490500"/>
          </a:xfrm>
          <a:prstGeom prst="straightConnector1">
            <a:avLst/>
          </a:prstGeom>
          <a:noFill/>
          <a:ln cap="flat" cmpd="sng" w="19050">
            <a:solidFill>
              <a:srgbClr val="B33939"/>
            </a:solidFill>
            <a:prstDash val="solid"/>
            <a:round/>
            <a:headEnd len="sm" w="sm" type="none"/>
            <a:tailEnd len="med" w="med" type="stealth"/>
          </a:ln>
        </p:spPr>
      </p:cxnSp>
      <p:cxnSp>
        <p:nvCxnSpPr>
          <p:cNvPr id="74" name="Google Shape;74;p11"/>
          <p:cNvCxnSpPr>
            <a:stCxn id="75" idx="2"/>
            <a:endCxn id="69" idx="0"/>
          </p:cNvCxnSpPr>
          <p:nvPr/>
        </p:nvCxnSpPr>
        <p:spPr>
          <a:xfrm>
            <a:off x="10606088" y="2962275"/>
            <a:ext cx="0" cy="1086000"/>
          </a:xfrm>
          <a:prstGeom prst="straightConnector1">
            <a:avLst/>
          </a:prstGeom>
          <a:noFill/>
          <a:ln cap="flat" cmpd="sng" w="19050">
            <a:solidFill>
              <a:srgbClr val="235A9F"/>
            </a:solidFill>
            <a:prstDash val="solid"/>
            <a:round/>
            <a:headEnd len="sm" w="sm" type="none"/>
            <a:tailEnd len="med" w="med" type="stealth"/>
          </a:ln>
        </p:spPr>
      </p:cxnSp>
      <p:cxnSp>
        <p:nvCxnSpPr>
          <p:cNvPr id="76" name="Google Shape;76;p11"/>
          <p:cNvCxnSpPr>
            <a:stCxn id="72" idx="3"/>
            <a:endCxn id="69" idx="1"/>
          </p:cNvCxnSpPr>
          <p:nvPr/>
        </p:nvCxnSpPr>
        <p:spPr>
          <a:xfrm flipH="1" rot="10800000">
            <a:off x="8382075" y="4438600"/>
            <a:ext cx="1295400" cy="4800"/>
          </a:xfrm>
          <a:prstGeom prst="straightConnector1">
            <a:avLst/>
          </a:prstGeom>
          <a:noFill/>
          <a:ln cap="flat" cmpd="sng" w="19050">
            <a:solidFill>
              <a:srgbClr val="007F7A"/>
            </a:solidFill>
            <a:prstDash val="solid"/>
            <a:round/>
            <a:headEnd len="sm" w="sm" type="none"/>
            <a:tailEnd len="med" w="med" type="stealth"/>
          </a:ln>
        </p:spPr>
      </p:cxnSp>
      <p:cxnSp>
        <p:nvCxnSpPr>
          <p:cNvPr id="77" name="Google Shape;77;p11"/>
          <p:cNvCxnSpPr>
            <a:stCxn id="78" idx="3"/>
            <a:endCxn id="72" idx="1"/>
          </p:cNvCxnSpPr>
          <p:nvPr/>
        </p:nvCxnSpPr>
        <p:spPr>
          <a:xfrm>
            <a:off x="4381500" y="4438650"/>
            <a:ext cx="1809600" cy="4800"/>
          </a:xfrm>
          <a:prstGeom prst="straightConnector1">
            <a:avLst/>
          </a:prstGeom>
          <a:noFill/>
          <a:ln cap="flat" cmpd="sng" w="19050">
            <a:solidFill>
              <a:srgbClr val="007F7A"/>
            </a:solidFill>
            <a:prstDash val="solid"/>
            <a:round/>
            <a:headEnd len="sm" w="sm" type="none"/>
            <a:tailEnd len="med" w="med" type="stealth"/>
          </a:ln>
        </p:spPr>
      </p:cxnSp>
      <p:cxnSp>
        <p:nvCxnSpPr>
          <p:cNvPr id="79" name="Google Shape;79;p11"/>
          <p:cNvCxnSpPr>
            <a:stCxn id="80" idx="3"/>
            <a:endCxn id="78" idx="1"/>
          </p:cNvCxnSpPr>
          <p:nvPr/>
        </p:nvCxnSpPr>
        <p:spPr>
          <a:xfrm>
            <a:off x="2219325" y="4438650"/>
            <a:ext cx="561900" cy="0"/>
          </a:xfrm>
          <a:prstGeom prst="straightConnector1">
            <a:avLst/>
          </a:prstGeom>
          <a:noFill/>
          <a:ln cap="flat" cmpd="sng" w="19050">
            <a:solidFill>
              <a:srgbClr val="007F7A"/>
            </a:solidFill>
            <a:prstDash val="solid"/>
            <a:round/>
            <a:headEnd len="sm" w="sm" type="none"/>
            <a:tailEnd len="med" w="med" type="stealth"/>
          </a:ln>
        </p:spPr>
      </p:cxnSp>
      <p:cxnSp>
        <p:nvCxnSpPr>
          <p:cNvPr id="81" name="Google Shape;81;p11"/>
          <p:cNvCxnSpPr>
            <a:stCxn id="82" idx="2"/>
            <a:endCxn id="80" idx="0"/>
          </p:cNvCxnSpPr>
          <p:nvPr/>
        </p:nvCxnSpPr>
        <p:spPr>
          <a:xfrm>
            <a:off x="1409700" y="2952900"/>
            <a:ext cx="9600" cy="1095300"/>
          </a:xfrm>
          <a:prstGeom prst="straightConnector1">
            <a:avLst/>
          </a:prstGeom>
          <a:noFill/>
          <a:ln cap="flat" cmpd="sng" w="19050">
            <a:solidFill>
              <a:srgbClr val="007F7A"/>
            </a:solidFill>
            <a:prstDash val="solid"/>
            <a:round/>
            <a:headEnd len="sm" w="sm" type="none"/>
            <a:tailEnd len="med" w="med" type="stealth"/>
          </a:ln>
        </p:spPr>
      </p:cxnSp>
      <p:cxnSp>
        <p:nvCxnSpPr>
          <p:cNvPr id="83" name="Google Shape;83;p11"/>
          <p:cNvCxnSpPr>
            <a:stCxn id="84" idx="3"/>
            <a:endCxn id="75" idx="1"/>
          </p:cNvCxnSpPr>
          <p:nvPr/>
        </p:nvCxnSpPr>
        <p:spPr>
          <a:xfrm>
            <a:off x="8724900" y="2571750"/>
            <a:ext cx="952500" cy="0"/>
          </a:xfrm>
          <a:prstGeom prst="straightConnector1">
            <a:avLst/>
          </a:prstGeom>
          <a:noFill/>
          <a:ln cap="flat" cmpd="sng" w="19050">
            <a:solidFill>
              <a:srgbClr val="235A9F"/>
            </a:solidFill>
            <a:prstDash val="solid"/>
            <a:round/>
            <a:headEnd len="sm" w="sm" type="none"/>
            <a:tailEnd len="med" w="med" type="stealth"/>
          </a:ln>
        </p:spPr>
      </p:cxnSp>
      <p:cxnSp>
        <p:nvCxnSpPr>
          <p:cNvPr id="85" name="Google Shape;85;p11"/>
          <p:cNvCxnSpPr>
            <a:stCxn id="86" idx="3"/>
            <a:endCxn id="84" idx="1"/>
          </p:cNvCxnSpPr>
          <p:nvPr/>
        </p:nvCxnSpPr>
        <p:spPr>
          <a:xfrm>
            <a:off x="6553200" y="2571750"/>
            <a:ext cx="571500" cy="0"/>
          </a:xfrm>
          <a:prstGeom prst="straightConnector1">
            <a:avLst/>
          </a:prstGeom>
          <a:noFill/>
          <a:ln cap="flat" cmpd="sng" w="19050">
            <a:solidFill>
              <a:srgbClr val="235A9F"/>
            </a:solidFill>
            <a:prstDash val="solid"/>
            <a:round/>
            <a:headEnd len="sm" w="sm" type="none"/>
            <a:tailEnd len="med" w="med" type="stealth"/>
          </a:ln>
        </p:spPr>
      </p:cxnSp>
      <p:cxnSp>
        <p:nvCxnSpPr>
          <p:cNvPr id="87" name="Google Shape;87;p11"/>
          <p:cNvCxnSpPr>
            <a:stCxn id="88" idx="3"/>
            <a:endCxn id="86" idx="1"/>
          </p:cNvCxnSpPr>
          <p:nvPr/>
        </p:nvCxnSpPr>
        <p:spPr>
          <a:xfrm>
            <a:off x="4381500" y="2571750"/>
            <a:ext cx="571500" cy="0"/>
          </a:xfrm>
          <a:prstGeom prst="straightConnector1">
            <a:avLst/>
          </a:prstGeom>
          <a:noFill/>
          <a:ln cap="flat" cmpd="sng" w="19050">
            <a:solidFill>
              <a:srgbClr val="235A9F"/>
            </a:solidFill>
            <a:prstDash val="solid"/>
            <a:round/>
            <a:headEnd len="sm" w="sm" type="none"/>
            <a:tailEnd len="med" w="med" type="stealth"/>
          </a:ln>
        </p:spPr>
      </p:cxnSp>
      <p:cxnSp>
        <p:nvCxnSpPr>
          <p:cNvPr id="89" name="Google Shape;89;p11"/>
          <p:cNvCxnSpPr>
            <a:stCxn id="82" idx="3"/>
            <a:endCxn id="88" idx="1"/>
          </p:cNvCxnSpPr>
          <p:nvPr/>
        </p:nvCxnSpPr>
        <p:spPr>
          <a:xfrm>
            <a:off x="2209800" y="2562300"/>
            <a:ext cx="571500" cy="9600"/>
          </a:xfrm>
          <a:prstGeom prst="straightConnector1">
            <a:avLst/>
          </a:prstGeom>
          <a:noFill/>
          <a:ln cap="flat" cmpd="sng" w="19050">
            <a:solidFill>
              <a:srgbClr val="235A9F"/>
            </a:solidFill>
            <a:prstDash val="solid"/>
            <a:round/>
            <a:headEnd len="sm" w="sm" type="none"/>
            <a:tailEnd len="med" w="med" type="stealth"/>
          </a:ln>
        </p:spPr>
      </p:cxnSp>
      <p:sp>
        <p:nvSpPr>
          <p:cNvPr id="90" name="Google Shape;90;p11"/>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Esquema completo de PISV</a:t>
            </a:r>
            <a:endParaRPr/>
          </a:p>
        </p:txBody>
      </p:sp>
      <p:sp>
        <p:nvSpPr>
          <p:cNvPr id="91" name="Google Shape;91;p11"/>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04</a:t>
            </a:r>
            <a:endParaRPr/>
          </a:p>
        </p:txBody>
      </p:sp>
      <p:sp>
        <p:nvSpPr>
          <p:cNvPr id="92" name="Google Shape;92;p11"/>
          <p:cNvSpPr/>
          <p:nvPr/>
        </p:nvSpPr>
        <p:spPr>
          <a:xfrm>
            <a:off x="619125" y="1609725"/>
            <a:ext cx="5715000" cy="3143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235A9F"/>
                </a:solidFill>
                <a:latin typeface="Helvetica Neue"/>
                <a:ea typeface="Helvetica Neue"/>
                <a:cs typeface="Helvetica Neue"/>
                <a:sym typeface="Helvetica Neue"/>
              </a:rPr>
              <a:t>RUTA DE IMAGEN</a:t>
            </a:r>
            <a:endParaRPr/>
          </a:p>
        </p:txBody>
      </p:sp>
      <p:sp>
        <p:nvSpPr>
          <p:cNvPr id="82" name="Google Shape;82;p11"/>
          <p:cNvSpPr/>
          <p:nvPr/>
        </p:nvSpPr>
        <p:spPr>
          <a:xfrm>
            <a:off x="609600" y="2171700"/>
            <a:ext cx="1600200" cy="78120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Imagen</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original</a:t>
            </a:r>
            <a:endParaRPr/>
          </a:p>
        </p:txBody>
      </p:sp>
      <p:sp>
        <p:nvSpPr>
          <p:cNvPr id="88" name="Google Shape;88;p11"/>
          <p:cNvSpPr/>
          <p:nvPr/>
        </p:nvSpPr>
        <p:spPr>
          <a:xfrm>
            <a:off x="2781300" y="2181225"/>
            <a:ext cx="1600200" cy="7810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Encoder</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JSCC</a:t>
            </a:r>
            <a:endParaRPr/>
          </a:p>
        </p:txBody>
      </p:sp>
      <p:sp>
        <p:nvSpPr>
          <p:cNvPr id="86" name="Google Shape;86;p11"/>
          <p:cNvSpPr/>
          <p:nvPr/>
        </p:nvSpPr>
        <p:spPr>
          <a:xfrm>
            <a:off x="4953000" y="2181225"/>
            <a:ext cx="1600200" cy="7810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Canal</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con ruido</a:t>
            </a:r>
            <a:endParaRPr/>
          </a:p>
        </p:txBody>
      </p:sp>
      <p:sp>
        <p:nvSpPr>
          <p:cNvPr id="84" name="Google Shape;84;p11"/>
          <p:cNvSpPr/>
          <p:nvPr/>
        </p:nvSpPr>
        <p:spPr>
          <a:xfrm>
            <a:off x="7124700" y="2181225"/>
            <a:ext cx="1600200" cy="7810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Decoder</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JSCC</a:t>
            </a:r>
            <a:endParaRPr/>
          </a:p>
        </p:txBody>
      </p:sp>
      <p:sp>
        <p:nvSpPr>
          <p:cNvPr id="75" name="Google Shape;75;p11"/>
          <p:cNvSpPr/>
          <p:nvPr/>
        </p:nvSpPr>
        <p:spPr>
          <a:xfrm>
            <a:off x="9677400" y="2181225"/>
            <a:ext cx="1857375" cy="7810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Imagen</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reconstruida</a:t>
            </a:r>
            <a:endParaRPr/>
          </a:p>
        </p:txBody>
      </p:sp>
      <p:sp>
        <p:nvSpPr>
          <p:cNvPr id="93" name="Google Shape;93;p11"/>
          <p:cNvSpPr/>
          <p:nvPr/>
        </p:nvSpPr>
        <p:spPr>
          <a:xfrm>
            <a:off x="2781300" y="3486150"/>
            <a:ext cx="5715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007F7A"/>
                </a:solidFill>
                <a:latin typeface="Helvetica Neue"/>
                <a:ea typeface="Helvetica Neue"/>
                <a:cs typeface="Helvetica Neue"/>
                <a:sym typeface="Helvetica Neue"/>
              </a:rPr>
              <a:t>REFERENCIA AUTENTICADA</a:t>
            </a:r>
            <a:endParaRPr/>
          </a:p>
        </p:txBody>
      </p:sp>
      <p:sp>
        <p:nvSpPr>
          <p:cNvPr id="80" name="Google Shape;80;p11"/>
          <p:cNvSpPr/>
          <p:nvPr/>
        </p:nvSpPr>
        <p:spPr>
          <a:xfrm>
            <a:off x="619125" y="4048125"/>
            <a:ext cx="1600200" cy="781050"/>
          </a:xfrm>
          <a:prstGeom prst="rect">
            <a:avLst/>
          </a:prstGeom>
          <a:solidFill>
            <a:srgbClr val="FFFFFF"/>
          </a:solidFill>
          <a:ln cap="flat" cmpd="sng" w="19050">
            <a:solidFill>
              <a:srgbClr val="007F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dHash</a:t>
            </a:r>
            <a:endParaRPr/>
          </a:p>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original</a:t>
            </a:r>
            <a:endParaRPr/>
          </a:p>
        </p:txBody>
      </p:sp>
      <p:sp>
        <p:nvSpPr>
          <p:cNvPr id="78" name="Google Shape;78;p11"/>
          <p:cNvSpPr/>
          <p:nvPr/>
        </p:nvSpPr>
        <p:spPr>
          <a:xfrm>
            <a:off x="2781300" y="4048125"/>
            <a:ext cx="1600200" cy="781050"/>
          </a:xfrm>
          <a:prstGeom prst="rect">
            <a:avLst/>
          </a:prstGeom>
          <a:solidFill>
            <a:srgbClr val="FFFFFF"/>
          </a:solidFill>
          <a:ln cap="flat" cmpd="sng" w="19050">
            <a:solidFill>
              <a:srgbClr val="007F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HMAC +</a:t>
            </a:r>
            <a:endParaRPr/>
          </a:p>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metadatos</a:t>
            </a:r>
            <a:endParaRPr/>
          </a:p>
        </p:txBody>
      </p:sp>
      <p:sp>
        <p:nvSpPr>
          <p:cNvPr id="72" name="Google Shape;72;p11"/>
          <p:cNvSpPr/>
          <p:nvPr/>
        </p:nvSpPr>
        <p:spPr>
          <a:xfrm>
            <a:off x="6191175" y="4052800"/>
            <a:ext cx="2190900" cy="781200"/>
          </a:xfrm>
          <a:prstGeom prst="rect">
            <a:avLst/>
          </a:prstGeom>
          <a:solidFill>
            <a:srgbClr val="FFFFFF"/>
          </a:solidFill>
          <a:ln cap="flat" cmpd="sng" w="19050">
            <a:solidFill>
              <a:srgbClr val="007F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Validar HMAC,</a:t>
            </a:r>
            <a:endParaRPr/>
          </a:p>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ID y nonce</a:t>
            </a:r>
            <a:endParaRPr/>
          </a:p>
        </p:txBody>
      </p:sp>
      <p:sp>
        <p:nvSpPr>
          <p:cNvPr id="69" name="Google Shape;69;p11"/>
          <p:cNvSpPr/>
          <p:nvPr/>
        </p:nvSpPr>
        <p:spPr>
          <a:xfrm>
            <a:off x="9677400" y="4048125"/>
            <a:ext cx="1857375" cy="781050"/>
          </a:xfrm>
          <a:prstGeom prst="rect">
            <a:avLst/>
          </a:prstGeom>
          <a:solidFill>
            <a:srgbClr val="FFFFFF"/>
          </a:solidFill>
          <a:ln cap="flat" cmpd="sng" w="19050">
            <a:solidFill>
              <a:srgbClr val="007F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dHash recibido</a:t>
            </a:r>
            <a:endParaRPr/>
          </a:p>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 Hamming</a:t>
            </a:r>
            <a:endParaRPr/>
          </a:p>
        </p:txBody>
      </p:sp>
      <p:sp>
        <p:nvSpPr>
          <p:cNvPr id="94" name="Google Shape;94;p11"/>
          <p:cNvSpPr/>
          <p:nvPr/>
        </p:nvSpPr>
        <p:spPr>
          <a:xfrm>
            <a:off x="4419600" y="4457700"/>
            <a:ext cx="1752600" cy="3143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350">
                <a:solidFill>
                  <a:srgbClr val="506773"/>
                </a:solidFill>
                <a:latin typeface="Helvetica Neue"/>
                <a:ea typeface="Helvetica Neue"/>
                <a:cs typeface="Helvetica Neue"/>
                <a:sym typeface="Helvetica Neue"/>
              </a:rPr>
              <a:t>Control confiable</a:t>
            </a:r>
            <a:endParaRPr/>
          </a:p>
        </p:txBody>
      </p:sp>
      <p:sp>
        <p:nvSpPr>
          <p:cNvPr id="73" name="Google Shape;73;p11"/>
          <p:cNvSpPr/>
          <p:nvPr/>
        </p:nvSpPr>
        <p:spPr>
          <a:xfrm>
            <a:off x="6524625" y="5324475"/>
            <a:ext cx="1524000" cy="457200"/>
          </a:xfrm>
          <a:prstGeom prst="rect">
            <a:avLst/>
          </a:prstGeom>
          <a:solidFill>
            <a:srgbClr val="FFFFFF"/>
          </a:solidFill>
          <a:ln cap="flat" cmpd="sng" w="19050">
            <a:solidFill>
              <a:srgbClr val="B339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B33939"/>
                </a:solidFill>
                <a:latin typeface="Helvetica Neue"/>
                <a:ea typeface="Helvetica Neue"/>
                <a:cs typeface="Helvetica Neue"/>
                <a:sym typeface="Helvetica Neue"/>
              </a:rPr>
              <a:t>Rechazar</a:t>
            </a:r>
            <a:endParaRPr/>
          </a:p>
        </p:txBody>
      </p:sp>
      <p:sp>
        <p:nvSpPr>
          <p:cNvPr id="70" name="Google Shape;70;p11"/>
          <p:cNvSpPr/>
          <p:nvPr/>
        </p:nvSpPr>
        <p:spPr>
          <a:xfrm>
            <a:off x="9605975" y="5372100"/>
            <a:ext cx="2000100" cy="457200"/>
          </a:xfrm>
          <a:prstGeom prst="rect">
            <a:avLst/>
          </a:prstGeom>
          <a:solidFill>
            <a:srgbClr val="FFFFFF"/>
          </a:solidFill>
          <a:ln cap="flat" cmpd="sng" w="19050">
            <a:solidFill>
              <a:srgbClr val="007F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007F7A"/>
                </a:solidFill>
                <a:latin typeface="Helvetica Neue"/>
                <a:ea typeface="Helvetica Neue"/>
                <a:cs typeface="Helvetica Neue"/>
                <a:sym typeface="Helvetica Neue"/>
              </a:rPr>
              <a:t>Decidir</a:t>
            </a:r>
            <a:endParaRPr/>
          </a:p>
        </p:txBody>
      </p:sp>
      <p:sp>
        <p:nvSpPr>
          <p:cNvPr id="95" name="Google Shape;95;p11"/>
          <p:cNvSpPr/>
          <p:nvPr/>
        </p:nvSpPr>
        <p:spPr>
          <a:xfrm>
            <a:off x="7524750" y="4972050"/>
            <a:ext cx="1047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B33939"/>
                </a:solidFill>
                <a:latin typeface="Helvetica Neue"/>
                <a:ea typeface="Helvetica Neue"/>
                <a:cs typeface="Helvetica Neue"/>
                <a:sym typeface="Helvetica Neue"/>
              </a:rPr>
              <a:t>Si falla</a:t>
            </a:r>
            <a:endParaRPr/>
          </a:p>
        </p:txBody>
      </p:sp>
      <p:sp>
        <p:nvSpPr>
          <p:cNvPr id="96" name="Google Shape;96;p11"/>
          <p:cNvSpPr/>
          <p:nvPr/>
        </p:nvSpPr>
        <p:spPr>
          <a:xfrm>
            <a:off x="10801350" y="4972050"/>
            <a:ext cx="7620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007F7A"/>
                </a:solidFill>
                <a:latin typeface="Helvetica Neue"/>
                <a:ea typeface="Helvetica Neue"/>
                <a:cs typeface="Helvetica Neue"/>
                <a:sym typeface="Helvetica Neue"/>
              </a:rPr>
              <a:t>Umbral</a:t>
            </a:r>
            <a:endParaRPr/>
          </a:p>
        </p:txBody>
      </p:sp>
      <p:sp>
        <p:nvSpPr>
          <p:cNvPr id="97" name="Google Shape;97;p11"/>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El emisor y el receptor comparten una clave secreta por un mecanismo externo.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02" name="Shape 102"/>
        <p:cNvGrpSpPr/>
        <p:nvPr/>
      </p:nvGrpSpPr>
      <p:grpSpPr>
        <a:xfrm>
          <a:off x="0" y="0"/>
          <a:ext cx="0" cy="0"/>
          <a:chOff x="0" y="0"/>
          <a:chExt cx="0" cy="0"/>
        </a:xfrm>
      </p:grpSpPr>
      <p:cxnSp>
        <p:nvCxnSpPr>
          <p:cNvPr id="103" name="Google Shape;103;p12"/>
          <p:cNvCxnSpPr>
            <a:stCxn id="104" idx="3"/>
            <a:endCxn id="105" idx="1"/>
          </p:cNvCxnSpPr>
          <p:nvPr/>
        </p:nvCxnSpPr>
        <p:spPr>
          <a:xfrm>
            <a:off x="7334250" y="2600325"/>
            <a:ext cx="2095500" cy="0"/>
          </a:xfrm>
          <a:prstGeom prst="straightConnector1">
            <a:avLst/>
          </a:prstGeom>
          <a:noFill/>
          <a:ln cap="flat" cmpd="sng" w="19050">
            <a:solidFill>
              <a:srgbClr val="235A9F"/>
            </a:solidFill>
            <a:prstDash val="solid"/>
            <a:round/>
            <a:headEnd len="sm" w="sm" type="none"/>
            <a:tailEnd len="med" w="med" type="stealth"/>
          </a:ln>
        </p:spPr>
      </p:cxnSp>
      <p:cxnSp>
        <p:nvCxnSpPr>
          <p:cNvPr id="106" name="Google Shape;106;p12"/>
          <p:cNvCxnSpPr>
            <a:stCxn id="107" idx="3"/>
            <a:endCxn id="104" idx="1"/>
          </p:cNvCxnSpPr>
          <p:nvPr/>
        </p:nvCxnSpPr>
        <p:spPr>
          <a:xfrm>
            <a:off x="2857500" y="2600325"/>
            <a:ext cx="2143200" cy="0"/>
          </a:xfrm>
          <a:prstGeom prst="straightConnector1">
            <a:avLst/>
          </a:prstGeom>
          <a:noFill/>
          <a:ln cap="flat" cmpd="sng" w="19050">
            <a:solidFill>
              <a:srgbClr val="235A9F"/>
            </a:solidFill>
            <a:prstDash val="solid"/>
            <a:round/>
            <a:headEnd len="sm" w="sm" type="none"/>
            <a:tailEnd len="med" w="med" type="stealth"/>
          </a:ln>
        </p:spPr>
      </p:cxnSp>
      <p:sp>
        <p:nvSpPr>
          <p:cNvPr id="108" name="Google Shape;108;p12"/>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JSCC: encoder y decoder aprendidos</a:t>
            </a:r>
            <a:endParaRPr/>
          </a:p>
        </p:txBody>
      </p:sp>
      <p:sp>
        <p:nvSpPr>
          <p:cNvPr id="109" name="Google Shape;109;p12"/>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05</a:t>
            </a:r>
            <a:endParaRPr/>
          </a:p>
        </p:txBody>
      </p:sp>
      <p:sp>
        <p:nvSpPr>
          <p:cNvPr id="107" name="Google Shape;107;p12"/>
          <p:cNvSpPr/>
          <p:nvPr/>
        </p:nvSpPr>
        <p:spPr>
          <a:xfrm>
            <a:off x="666750" y="2076450"/>
            <a:ext cx="2190750" cy="10477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Imagen</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3 × 32 × 32</a:t>
            </a:r>
            <a:endParaRPr/>
          </a:p>
        </p:txBody>
      </p:sp>
      <p:sp>
        <p:nvSpPr>
          <p:cNvPr id="104" name="Google Shape;104;p12"/>
          <p:cNvSpPr/>
          <p:nvPr/>
        </p:nvSpPr>
        <p:spPr>
          <a:xfrm>
            <a:off x="5000625" y="2076450"/>
            <a:ext cx="2333625" cy="10477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Representación</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128 × 4 × 4</a:t>
            </a:r>
            <a:endParaRPr/>
          </a:p>
        </p:txBody>
      </p:sp>
      <p:sp>
        <p:nvSpPr>
          <p:cNvPr id="105" name="Google Shape;105;p12"/>
          <p:cNvSpPr/>
          <p:nvPr/>
        </p:nvSpPr>
        <p:spPr>
          <a:xfrm>
            <a:off x="9429750" y="2076450"/>
            <a:ext cx="2190750" cy="1047750"/>
          </a:xfrm>
          <a:prstGeom prst="rect">
            <a:avLst/>
          </a:prstGeom>
          <a:solidFill>
            <a:srgbClr val="FFFFFF"/>
          </a:solidFill>
          <a:ln cap="flat" cmpd="sng" w="19050">
            <a:solidFill>
              <a:srgbClr val="235A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Reconstrucción</a:t>
            </a:r>
            <a:endParaRPr/>
          </a:p>
          <a:p>
            <a:pPr indent="0" lvl="0" marL="0" marR="0" rtl="0" algn="ctr">
              <a:spcBef>
                <a:spcPts val="0"/>
              </a:spcBef>
              <a:spcAft>
                <a:spcPts val="0"/>
              </a:spcAft>
              <a:buNone/>
            </a:pPr>
            <a:r>
              <a:rPr b="1" lang="en-US" sz="1800">
                <a:solidFill>
                  <a:srgbClr val="235A9F"/>
                </a:solidFill>
                <a:latin typeface="Helvetica Neue"/>
                <a:ea typeface="Helvetica Neue"/>
                <a:cs typeface="Helvetica Neue"/>
                <a:sym typeface="Helvetica Neue"/>
              </a:rPr>
              <a:t>3 × 32 × 32</a:t>
            </a:r>
            <a:endParaRPr/>
          </a:p>
        </p:txBody>
      </p:sp>
      <p:sp>
        <p:nvSpPr>
          <p:cNvPr id="110" name="Google Shape;110;p12"/>
          <p:cNvSpPr/>
          <p:nvPr/>
        </p:nvSpPr>
        <p:spPr>
          <a:xfrm>
            <a:off x="3152775" y="1524000"/>
            <a:ext cx="1657350" cy="4095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100">
                <a:solidFill>
                  <a:srgbClr val="235A9F"/>
                </a:solidFill>
                <a:latin typeface="Helvetica Neue"/>
                <a:ea typeface="Helvetica Neue"/>
                <a:cs typeface="Helvetica Neue"/>
                <a:sym typeface="Helvetica Neue"/>
              </a:rPr>
              <a:t>Encoder</a:t>
            </a:r>
            <a:endParaRPr/>
          </a:p>
        </p:txBody>
      </p:sp>
      <p:sp>
        <p:nvSpPr>
          <p:cNvPr id="111" name="Google Shape;111;p12"/>
          <p:cNvSpPr/>
          <p:nvPr/>
        </p:nvSpPr>
        <p:spPr>
          <a:xfrm>
            <a:off x="7581900" y="1524000"/>
            <a:ext cx="1657350" cy="4095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100">
                <a:solidFill>
                  <a:srgbClr val="235A9F"/>
                </a:solidFill>
                <a:latin typeface="Helvetica Neue"/>
                <a:ea typeface="Helvetica Neue"/>
                <a:cs typeface="Helvetica Neue"/>
                <a:sym typeface="Helvetica Neue"/>
              </a:rPr>
              <a:t>Decoder</a:t>
            </a:r>
            <a:endParaRPr/>
          </a:p>
        </p:txBody>
      </p:sp>
      <p:sp>
        <p:nvSpPr>
          <p:cNvPr id="112" name="Google Shape;112;p12"/>
          <p:cNvSpPr/>
          <p:nvPr/>
        </p:nvSpPr>
        <p:spPr>
          <a:xfrm>
            <a:off x="666750" y="3800475"/>
            <a:ext cx="5238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007F7A"/>
                </a:solidFill>
                <a:latin typeface="Helvetica Neue"/>
                <a:ea typeface="Helvetica Neue"/>
                <a:cs typeface="Helvetica Neue"/>
                <a:sym typeface="Helvetica Neue"/>
              </a:rPr>
              <a:t>Entrenamiento conjunto</a:t>
            </a:r>
            <a:endParaRPr/>
          </a:p>
        </p:txBody>
      </p:sp>
      <p:sp>
        <p:nvSpPr>
          <p:cNvPr id="113" name="Google Shape;113;p12"/>
          <p:cNvSpPr/>
          <p:nvPr/>
        </p:nvSpPr>
        <p:spPr>
          <a:xfrm>
            <a:off x="666750" y="4524375"/>
            <a:ext cx="5238750" cy="11144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22A35"/>
                </a:solidFill>
                <a:latin typeface="Helvetica Neue"/>
                <a:ea typeface="Helvetica Neue"/>
                <a:cs typeface="Helvetica Neue"/>
                <a:sym typeface="Helvetica Neue"/>
              </a:rPr>
              <a:t>El error cuadrático medio (MSE) compara los píxeles originales y reconstruidos.</a:t>
            </a:r>
            <a:endParaRPr/>
          </a:p>
        </p:txBody>
      </p:sp>
      <p:sp>
        <p:nvSpPr>
          <p:cNvPr id="114" name="Google Shape;114;p12"/>
          <p:cNvSpPr/>
          <p:nvPr/>
        </p:nvSpPr>
        <p:spPr>
          <a:xfrm>
            <a:off x="7219950" y="3890963"/>
            <a:ext cx="40959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007F7A"/>
                </a:solidFill>
                <a:latin typeface="Helvetica Neue"/>
                <a:ea typeface="Helvetica Neue"/>
                <a:cs typeface="Helvetica Neue"/>
                <a:sym typeface="Helvetica Neue"/>
              </a:rPr>
              <a:t>CIFAR-10</a:t>
            </a:r>
            <a:endParaRPr/>
          </a:p>
        </p:txBody>
      </p:sp>
      <p:sp>
        <p:nvSpPr>
          <p:cNvPr id="115" name="Google Shape;115;p12"/>
          <p:cNvSpPr/>
          <p:nvPr/>
        </p:nvSpPr>
        <p:spPr>
          <a:xfrm>
            <a:off x="7219950" y="4524375"/>
            <a:ext cx="4095750" cy="11144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50.000 imágenes de entrenamiento</a:t>
            </a:r>
            <a:endParaRPr/>
          </a:p>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5 épocas, Adam y sigma 0,2</a:t>
            </a:r>
            <a:endParaRPr/>
          </a:p>
        </p:txBody>
      </p:sp>
      <p:sp>
        <p:nvSpPr>
          <p:cNvPr id="116" name="Google Shape;116;p12"/>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Durante la transmisión se usan pesos ya entrenados. La huella se calcula aparte.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21" name="Shape 121"/>
        <p:cNvGrpSpPr/>
        <p:nvPr/>
      </p:nvGrpSpPr>
      <p:grpSpPr>
        <a:xfrm>
          <a:off x="0" y="0"/>
          <a:ext cx="0" cy="0"/>
          <a:chOff x="0" y="0"/>
          <a:chExt cx="0" cy="0"/>
        </a:xfrm>
      </p:grpSpPr>
      <p:sp>
        <p:nvSpPr>
          <p:cNvPr id="122" name="Google Shape;122;p13"/>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Ruido gaussiano en el canal</a:t>
            </a:r>
            <a:endParaRPr/>
          </a:p>
        </p:txBody>
      </p:sp>
      <p:sp>
        <p:nvSpPr>
          <p:cNvPr id="123" name="Google Shape;123;p13"/>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06</a:t>
            </a:r>
            <a:endParaRPr/>
          </a:p>
        </p:txBody>
      </p:sp>
      <p:sp>
        <p:nvSpPr>
          <p:cNvPr id="124" name="Google Shape;124;p13"/>
          <p:cNvSpPr/>
          <p:nvPr/>
        </p:nvSpPr>
        <p:spPr>
          <a:xfrm>
            <a:off x="666750" y="1638300"/>
            <a:ext cx="108585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125">
                <a:solidFill>
                  <a:srgbClr val="235A9F"/>
                </a:solidFill>
                <a:latin typeface="Helvetica Neue"/>
                <a:ea typeface="Helvetica Neue"/>
                <a:cs typeface="Helvetica Neue"/>
                <a:sym typeface="Helvetica Neue"/>
              </a:rPr>
              <a:t>z recibido = z + σ · ε</a:t>
            </a:r>
            <a:endParaRPr/>
          </a:p>
        </p:txBody>
      </p:sp>
      <p:sp>
        <p:nvSpPr>
          <p:cNvPr id="125" name="Google Shape;125;p13"/>
          <p:cNvSpPr/>
          <p:nvPr/>
        </p:nvSpPr>
        <p:spPr>
          <a:xfrm>
            <a:off x="666750" y="2743200"/>
            <a:ext cx="10668000" cy="53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22A35"/>
                </a:solidFill>
                <a:latin typeface="Helvetica Neue"/>
                <a:ea typeface="Helvetica Neue"/>
                <a:cs typeface="Helvetica Neue"/>
                <a:sym typeface="Helvetica Neue"/>
              </a:rPr>
              <a:t>ε sigue una normal de media 0 y desviación estándar 1.</a:t>
            </a:r>
            <a:endParaRPr/>
          </a:p>
        </p:txBody>
      </p:sp>
      <p:graphicFrame>
        <p:nvGraphicFramePr>
          <p:cNvPr id="126" name="Google Shape;126;p13"/>
          <p:cNvGraphicFramePr/>
          <p:nvPr/>
        </p:nvGraphicFramePr>
        <p:xfrm>
          <a:off x="666750" y="3629025"/>
          <a:ext cx="3000000" cy="3000000"/>
        </p:xfrm>
        <a:graphic>
          <a:graphicData uri="http://schemas.openxmlformats.org/drawingml/2006/table">
            <a:tbl>
              <a:tblPr>
                <a:noFill/>
                <a:tableStyleId>{B1D9FB9F-2103-4A2B-B182-7D5A0C35B3CC}</a:tableStyleId>
              </a:tblPr>
              <a:tblGrid>
                <a:gridCol w="5524500"/>
                <a:gridCol w="5238750"/>
              </a:tblGrid>
              <a:tr h="405775">
                <a:tc>
                  <a:txBody>
                    <a:bodyPr/>
                    <a:lstStyle/>
                    <a:p>
                      <a:pPr indent="0" lvl="0" marL="0" marR="0" rtl="0" algn="l">
                        <a:spcBef>
                          <a:spcPts val="0"/>
                        </a:spcBef>
                        <a:spcAft>
                          <a:spcPts val="0"/>
                        </a:spcAft>
                        <a:buClr>
                          <a:srgbClr val="FFFFFF"/>
                        </a:buClr>
                        <a:buSzPts val="1875"/>
                        <a:buFont typeface="Helvetica Neue"/>
                        <a:buNone/>
                      </a:pPr>
                      <a:r>
                        <a:rPr b="1" lang="en-US" sz="1875" u="none" cap="none" strike="noStrike">
                          <a:solidFill>
                            <a:srgbClr val="FFFFFF"/>
                          </a:solidFill>
                          <a:latin typeface="Helvetica Neue"/>
                          <a:ea typeface="Helvetica Neue"/>
                          <a:cs typeface="Helvetica Neue"/>
                          <a:sym typeface="Helvetica Neue"/>
                        </a:rPr>
                        <a:t>Ejemplo didáctico</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875"/>
                        <a:buFont typeface="Helvetica Neue"/>
                        <a:buNone/>
                      </a:pPr>
                      <a:r>
                        <a:rPr b="1" lang="en-US" sz="1875">
                          <a:solidFill>
                            <a:srgbClr val="FFFFFF"/>
                          </a:solidFill>
                          <a:latin typeface="Helvetica Neue"/>
                          <a:ea typeface="Helvetica Neue"/>
                          <a:cs typeface="Helvetica Neue"/>
                          <a:sym typeface="Helvetica Neue"/>
                        </a:rPr>
                        <a:t>Valor</a:t>
                      </a:r>
                      <a:endParaRPr/>
                    </a:p>
                  </a:txBody>
                  <a:tcPr marT="45725" marB="45725" marR="91450" marL="91450" anchor="ctr">
                    <a:solidFill>
                      <a:srgbClr val="102E39"/>
                    </a:solidFill>
                  </a:tcPr>
                </a:tc>
              </a:tr>
              <a:tr h="405775">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Número enviado, z</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0,70</a:t>
                      </a:r>
                      <a:endParaRPr/>
                    </a:p>
                  </a:txBody>
                  <a:tcPr marT="45725" marB="45725" marR="91450" marL="91450" anchor="ctr">
                    <a:solidFill>
                      <a:srgbClr val="FFFFFF"/>
                    </a:solidFill>
                  </a:tcPr>
                </a:tc>
              </a:tr>
              <a:tr h="405775">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Muestra aleatoria, ε</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−0,60</a:t>
                      </a:r>
                      <a:endParaRPr/>
                    </a:p>
                  </a:txBody>
                  <a:tcPr marT="45725" marB="45725" marR="91450" marL="91450" anchor="ctr">
                    <a:solidFill>
                      <a:srgbClr val="EDF3F3"/>
                    </a:solidFill>
                  </a:tcPr>
                </a:tc>
              </a:tr>
              <a:tr h="405775">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Desviación estándar, σ</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0,20</a:t>
                      </a:r>
                      <a:endParaRPr/>
                    </a:p>
                  </a:txBody>
                  <a:tcPr marT="45725" marB="45725" marR="91450" marL="91450" anchor="ctr">
                    <a:solidFill>
                      <a:srgbClr val="FFFFFF"/>
                    </a:solidFill>
                  </a:tcPr>
                </a:tc>
              </a:tr>
              <a:tr h="405775">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Número recibido</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75"/>
                        <a:buFont typeface="Helvetica Neue"/>
                        <a:buNone/>
                      </a:pPr>
                      <a:r>
                        <a:rPr b="0" lang="en-US" sz="1875">
                          <a:solidFill>
                            <a:srgbClr val="122A35"/>
                          </a:solidFill>
                          <a:latin typeface="Helvetica Neue"/>
                          <a:ea typeface="Helvetica Neue"/>
                          <a:cs typeface="Helvetica Neue"/>
                          <a:sym typeface="Helvetica Neue"/>
                        </a:rPr>
                        <a:t>0,70 + 0,20 × (−0,60) = 0,58</a:t>
                      </a:r>
                      <a:endParaRPr/>
                    </a:p>
                  </a:txBody>
                  <a:tcPr marT="45725" marB="45725" marR="91450" marL="91450" anchor="ctr">
                    <a:solidFill>
                      <a:srgbClr val="EDF3F3"/>
                    </a:solidFill>
                  </a:tcPr>
                </a:tc>
              </a:tr>
            </a:tbl>
          </a:graphicData>
        </a:graphic>
      </p:graphicFrame>
      <p:sp>
        <p:nvSpPr>
          <p:cNvPr id="127" name="Google Shape;127;p13"/>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En el código, noise_power representa σ. La varianza es σ². No se expresa SNR en dB.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32" name="Shape 132"/>
        <p:cNvGrpSpPr/>
        <p:nvPr/>
      </p:nvGrpSpPr>
      <p:grpSpPr>
        <a:xfrm>
          <a:off x="0" y="0"/>
          <a:ext cx="0" cy="0"/>
          <a:chOff x="0" y="0"/>
          <a:chExt cx="0" cy="0"/>
        </a:xfrm>
      </p:grpSpPr>
      <p:sp>
        <p:nvSpPr>
          <p:cNvPr id="133" name="Google Shape;133;p14"/>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dHash: una huella de cambios de brillo</a:t>
            </a:r>
            <a:endParaRPr/>
          </a:p>
        </p:txBody>
      </p:sp>
      <p:sp>
        <p:nvSpPr>
          <p:cNvPr id="134" name="Google Shape;134;p14"/>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07</a:t>
            </a:r>
            <a:endParaRPr/>
          </a:p>
        </p:txBody>
      </p:sp>
      <p:sp>
        <p:nvSpPr>
          <p:cNvPr id="135" name="Google Shape;135;p14"/>
          <p:cNvSpPr/>
          <p:nvPr/>
        </p:nvSpPr>
        <p:spPr>
          <a:xfrm>
            <a:off x="647700" y="1581150"/>
            <a:ext cx="106680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325">
                <a:solidFill>
                  <a:srgbClr val="122A35"/>
                </a:solidFill>
                <a:latin typeface="Helvetica Neue"/>
                <a:ea typeface="Helvetica Neue"/>
                <a:cs typeface="Helvetica Neue"/>
                <a:sym typeface="Helvetica Neue"/>
              </a:rPr>
              <a:t>Escala de grises, tamaño 9 × 8 y comparación entre vecinos.</a:t>
            </a:r>
            <a:endParaRPr/>
          </a:p>
        </p:txBody>
      </p:sp>
      <p:sp>
        <p:nvSpPr>
          <p:cNvPr id="136" name="Google Shape;136;p14"/>
          <p:cNvSpPr/>
          <p:nvPr/>
        </p:nvSpPr>
        <p:spPr>
          <a:xfrm>
            <a:off x="647700" y="2686050"/>
            <a:ext cx="106680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506773"/>
                </a:solidFill>
                <a:latin typeface="Helvetica Neue"/>
                <a:ea typeface="Helvetica Neue"/>
                <a:cs typeface="Helvetica Neue"/>
                <a:sym typeface="Helvetica Neue"/>
              </a:rPr>
              <a:t>Ejemplo reducido de una fila</a:t>
            </a:r>
            <a:endParaRPr/>
          </a:p>
        </p:txBody>
      </p:sp>
      <p:graphicFrame>
        <p:nvGraphicFramePr>
          <p:cNvPr id="137" name="Google Shape;137;p14"/>
          <p:cNvGraphicFramePr/>
          <p:nvPr/>
        </p:nvGraphicFramePr>
        <p:xfrm>
          <a:off x="647700" y="3295650"/>
          <a:ext cx="3000000" cy="3000000"/>
        </p:xfrm>
        <a:graphic>
          <a:graphicData uri="http://schemas.openxmlformats.org/drawingml/2006/table">
            <a:tbl>
              <a:tblPr>
                <a:noFill/>
                <a:tableStyleId>{B1D9FB9F-2103-4A2B-B182-7D5A0C35B3CC}</a:tableStyleId>
              </a:tblPr>
              <a:tblGrid>
                <a:gridCol w="1738325"/>
                <a:gridCol w="1738325"/>
                <a:gridCol w="1738325"/>
                <a:gridCol w="1738325"/>
              </a:tblGrid>
              <a:tr h="809625">
                <a:tc>
                  <a:txBody>
                    <a:bodyPr/>
                    <a:lstStyle/>
                    <a:p>
                      <a:pPr indent="0" lvl="0" marL="0" marR="0" rtl="0" algn="ctr">
                        <a:spcBef>
                          <a:spcPts val="0"/>
                        </a:spcBef>
                        <a:spcAft>
                          <a:spcPts val="0"/>
                        </a:spcAft>
                        <a:buClr>
                          <a:srgbClr val="122A35"/>
                        </a:buClr>
                        <a:buSzPts val="2475"/>
                        <a:buFont typeface="Helvetica Neue"/>
                        <a:buNone/>
                      </a:pPr>
                      <a:r>
                        <a:rPr b="1" lang="en-US" sz="2475">
                          <a:solidFill>
                            <a:srgbClr val="122A35"/>
                          </a:solidFill>
                          <a:latin typeface="Helvetica Neue"/>
                          <a:ea typeface="Helvetica Neue"/>
                          <a:cs typeface="Helvetica Neue"/>
                          <a:sym typeface="Helvetica Neue"/>
                        </a:rPr>
                        <a:t>20</a:t>
                      </a:r>
                      <a:endParaRPr/>
                    </a:p>
                  </a:txBody>
                  <a:tcPr marT="45725" marB="45725" marR="91450" marL="91450" anchor="ctr">
                    <a:solidFill>
                      <a:srgbClr val="E5E8E8"/>
                    </a:solidFill>
                  </a:tcPr>
                </a:tc>
                <a:tc>
                  <a:txBody>
                    <a:bodyPr/>
                    <a:lstStyle/>
                    <a:p>
                      <a:pPr indent="0" lvl="0" marL="0" marR="0" rtl="0" algn="ctr">
                        <a:spcBef>
                          <a:spcPts val="0"/>
                        </a:spcBef>
                        <a:spcAft>
                          <a:spcPts val="0"/>
                        </a:spcAft>
                        <a:buClr>
                          <a:srgbClr val="122A35"/>
                        </a:buClr>
                        <a:buSzPts val="2475"/>
                        <a:buFont typeface="Helvetica Neue"/>
                        <a:buNone/>
                      </a:pPr>
                      <a:r>
                        <a:rPr b="1" lang="en-US" sz="2475">
                          <a:solidFill>
                            <a:srgbClr val="122A35"/>
                          </a:solidFill>
                          <a:latin typeface="Helvetica Neue"/>
                          <a:ea typeface="Helvetica Neue"/>
                          <a:cs typeface="Helvetica Neue"/>
                          <a:sym typeface="Helvetica Neue"/>
                        </a:rPr>
                        <a:t>50</a:t>
                      </a:r>
                      <a:endParaRPr/>
                    </a:p>
                  </a:txBody>
                  <a:tcPr marT="45725" marB="45725" marR="91450" marL="91450" anchor="ctr">
                    <a:solidFill>
                      <a:srgbClr val="CBD3D4"/>
                    </a:solidFill>
                  </a:tcPr>
                </a:tc>
                <a:tc>
                  <a:txBody>
                    <a:bodyPr/>
                    <a:lstStyle/>
                    <a:p>
                      <a:pPr indent="0" lvl="0" marL="0" marR="0" rtl="0" algn="ctr">
                        <a:spcBef>
                          <a:spcPts val="0"/>
                        </a:spcBef>
                        <a:spcAft>
                          <a:spcPts val="0"/>
                        </a:spcAft>
                        <a:buClr>
                          <a:srgbClr val="122A35"/>
                        </a:buClr>
                        <a:buSzPts val="2475"/>
                        <a:buFont typeface="Helvetica Neue"/>
                        <a:buNone/>
                      </a:pPr>
                      <a:r>
                        <a:rPr b="1" lang="en-US" sz="2475">
                          <a:solidFill>
                            <a:srgbClr val="122A35"/>
                          </a:solidFill>
                          <a:latin typeface="Helvetica Neue"/>
                          <a:ea typeface="Helvetica Neue"/>
                          <a:cs typeface="Helvetica Neue"/>
                          <a:sym typeface="Helvetica Neue"/>
                        </a:rPr>
                        <a:t>45</a:t>
                      </a:r>
                      <a:endParaRPr/>
                    </a:p>
                  </a:txBody>
                  <a:tcPr marT="45725" marB="45725" marR="91450" marL="91450" anchor="ctr">
                    <a:solidFill>
                      <a:srgbClr val="D3D9D9"/>
                    </a:solidFill>
                  </a:tcPr>
                </a:tc>
                <a:tc>
                  <a:txBody>
                    <a:bodyPr/>
                    <a:lstStyle/>
                    <a:p>
                      <a:pPr indent="0" lvl="0" marL="0" marR="0" rtl="0" algn="ctr">
                        <a:spcBef>
                          <a:spcPts val="0"/>
                        </a:spcBef>
                        <a:spcAft>
                          <a:spcPts val="0"/>
                        </a:spcAft>
                        <a:buClr>
                          <a:srgbClr val="122A35"/>
                        </a:buClr>
                        <a:buSzPts val="2475"/>
                        <a:buFont typeface="Helvetica Neue"/>
                        <a:buNone/>
                      </a:pPr>
                      <a:r>
                        <a:rPr b="1" lang="en-US" sz="2475">
                          <a:solidFill>
                            <a:srgbClr val="122A35"/>
                          </a:solidFill>
                          <a:latin typeface="Helvetica Neue"/>
                          <a:ea typeface="Helvetica Neue"/>
                          <a:cs typeface="Helvetica Neue"/>
                          <a:sym typeface="Helvetica Neue"/>
                        </a:rPr>
                        <a:t>90</a:t>
                      </a:r>
                      <a:endParaRPr/>
                    </a:p>
                  </a:txBody>
                  <a:tcPr marT="45725" marB="45725" marR="91450" marL="91450" anchor="ctr">
                    <a:solidFill>
                      <a:srgbClr val="A6B7B9"/>
                    </a:solidFill>
                  </a:tcPr>
                </a:tc>
              </a:tr>
            </a:tbl>
          </a:graphicData>
        </a:graphic>
      </p:graphicFrame>
      <p:sp>
        <p:nvSpPr>
          <p:cNvPr id="138" name="Google Shape;138;p14"/>
          <p:cNvSpPr/>
          <p:nvPr/>
        </p:nvSpPr>
        <p:spPr>
          <a:xfrm>
            <a:off x="647700" y="4476750"/>
            <a:ext cx="71437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007F7A"/>
                </a:solidFill>
                <a:latin typeface="Helvetica Neue"/>
                <a:ea typeface="Helvetica Neue"/>
                <a:cs typeface="Helvetica Neue"/>
                <a:sym typeface="Helvetica Neue"/>
              </a:rPr>
              <a:t>50 &gt; 20: 1       45 &gt; 50: 0       90 &gt; 45: 1</a:t>
            </a:r>
            <a:endParaRPr/>
          </a:p>
        </p:txBody>
      </p:sp>
      <p:sp>
        <p:nvSpPr>
          <p:cNvPr id="139" name="Google Shape;139;p14"/>
          <p:cNvSpPr/>
          <p:nvPr/>
        </p:nvSpPr>
        <p:spPr>
          <a:xfrm>
            <a:off x="8296275" y="3086100"/>
            <a:ext cx="3257550" cy="1000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007F7A"/>
                </a:solidFill>
                <a:latin typeface="Helvetica Neue"/>
                <a:ea typeface="Helvetica Neue"/>
                <a:cs typeface="Helvetica Neue"/>
                <a:sym typeface="Helvetica Neue"/>
              </a:rPr>
              <a:t>64 bits</a:t>
            </a:r>
            <a:endParaRPr/>
          </a:p>
        </p:txBody>
      </p:sp>
      <p:sp>
        <p:nvSpPr>
          <p:cNvPr id="140" name="Google Shape;140;p14"/>
          <p:cNvSpPr/>
          <p:nvPr/>
        </p:nvSpPr>
        <p:spPr>
          <a:xfrm>
            <a:off x="8305800" y="4267200"/>
            <a:ext cx="32385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8 comparaciones</a:t>
            </a:r>
            <a:endParaRPr/>
          </a:p>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en cada una de</a:t>
            </a:r>
            <a:endParaRPr/>
          </a:p>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las 8 filas</a:t>
            </a:r>
            <a:endParaRPr/>
          </a:p>
        </p:txBody>
      </p:sp>
      <p:sp>
        <p:nvSpPr>
          <p:cNvPr id="141" name="Google Shape;141;p14"/>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La huella conserva algunas relaciones visuales. Distintas imágenes pueden compartirla.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46" name="Shape 146"/>
        <p:cNvGrpSpPr/>
        <p:nvPr/>
      </p:nvGrpSpPr>
      <p:grpSpPr>
        <a:xfrm>
          <a:off x="0" y="0"/>
          <a:ext cx="0" cy="0"/>
          <a:chOff x="0" y="0"/>
          <a:chExt cx="0" cy="0"/>
        </a:xfrm>
      </p:grpSpPr>
      <p:sp>
        <p:nvSpPr>
          <p:cNvPr id="147" name="Google Shape;147;p15"/>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Hamming: cuántos bits son distintos</a:t>
            </a:r>
            <a:endParaRPr/>
          </a:p>
        </p:txBody>
      </p:sp>
      <p:sp>
        <p:nvSpPr>
          <p:cNvPr id="148" name="Google Shape;148;p15"/>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08</a:t>
            </a:r>
            <a:endParaRPr/>
          </a:p>
        </p:txBody>
      </p:sp>
      <p:graphicFrame>
        <p:nvGraphicFramePr>
          <p:cNvPr id="149" name="Google Shape;149;p15"/>
          <p:cNvGraphicFramePr/>
          <p:nvPr/>
        </p:nvGraphicFramePr>
        <p:xfrm>
          <a:off x="647700" y="1809750"/>
          <a:ext cx="3000000" cy="3000000"/>
        </p:xfrm>
        <a:graphic>
          <a:graphicData uri="http://schemas.openxmlformats.org/drawingml/2006/table">
            <a:tbl>
              <a:tblPr>
                <a:noFill/>
                <a:tableStyleId>{B1D9FB9F-2103-4A2B-B182-7D5A0C35B3CC}</a:tableStyleId>
              </a:tblPr>
              <a:tblGrid>
                <a:gridCol w="2667000"/>
                <a:gridCol w="1000125"/>
                <a:gridCol w="1000125"/>
                <a:gridCol w="1000125"/>
                <a:gridCol w="1000125"/>
                <a:gridCol w="1000125"/>
                <a:gridCol w="1000125"/>
                <a:gridCol w="1000125"/>
                <a:gridCol w="1000125"/>
              </a:tblGrid>
              <a:tr h="641350">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Huella</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1</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2</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3</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4</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5</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6</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7</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8</a:t>
                      </a:r>
                      <a:endParaRPr/>
                    </a:p>
                  </a:txBody>
                  <a:tcPr marT="45725" marB="45725" marR="91450" marL="91450" anchor="ctr">
                    <a:solidFill>
                      <a:srgbClr val="102E39"/>
                    </a:solidFill>
                  </a:tcPr>
                </a:tc>
              </a:tr>
              <a:tr h="641350">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Original</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B33939"/>
                        </a:buClr>
                        <a:buSzPts val="2175"/>
                        <a:buFont typeface="Helvetica Neue"/>
                        <a:buNone/>
                      </a:pPr>
                      <a:r>
                        <a:rPr b="1" lang="en-US" sz="2175">
                          <a:solidFill>
                            <a:srgbClr val="B33939"/>
                          </a:solidFill>
                          <a:latin typeface="Helvetica Neue"/>
                          <a:ea typeface="Helvetica Neue"/>
                          <a:cs typeface="Helvetica Neue"/>
                          <a:sym typeface="Helvetica Neue"/>
                        </a:rPr>
                        <a:t>1</a:t>
                      </a:r>
                      <a:endParaRPr/>
                    </a:p>
                  </a:txBody>
                  <a:tcPr marT="45725" marB="45725" marR="91450" marL="91450" anchor="ctr">
                    <a:solidFill>
                      <a:srgbClr val="FCE7DD"/>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B33939"/>
                        </a:buClr>
                        <a:buSzPts val="2175"/>
                        <a:buFont typeface="Helvetica Neue"/>
                        <a:buNone/>
                      </a:pPr>
                      <a:r>
                        <a:rPr b="1" lang="en-US" sz="2175">
                          <a:solidFill>
                            <a:srgbClr val="B33939"/>
                          </a:solidFill>
                          <a:latin typeface="Helvetica Neue"/>
                          <a:ea typeface="Helvetica Neue"/>
                          <a:cs typeface="Helvetica Neue"/>
                          <a:sym typeface="Helvetica Neue"/>
                        </a:rPr>
                        <a:t>0</a:t>
                      </a:r>
                      <a:endParaRPr/>
                    </a:p>
                  </a:txBody>
                  <a:tcPr marT="45725" marB="45725" marR="91450" marL="91450" anchor="ctr">
                    <a:solidFill>
                      <a:srgbClr val="FCE7DD"/>
                    </a:solidFill>
                  </a:tcPr>
                </a:tc>
              </a:tr>
              <a:tr h="641350">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Recibida</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B33939"/>
                        </a:buClr>
                        <a:buSzPts val="2175"/>
                        <a:buFont typeface="Helvetica Neue"/>
                        <a:buNone/>
                      </a:pPr>
                      <a:r>
                        <a:rPr b="1" lang="en-US" sz="2175">
                          <a:solidFill>
                            <a:srgbClr val="B33939"/>
                          </a:solidFill>
                          <a:latin typeface="Helvetica Neue"/>
                          <a:ea typeface="Helvetica Neue"/>
                          <a:cs typeface="Helvetica Neue"/>
                          <a:sym typeface="Helvetica Neue"/>
                        </a:rPr>
                        <a:t>0</a:t>
                      </a:r>
                      <a:endParaRPr/>
                    </a:p>
                  </a:txBody>
                  <a:tcPr marT="45725" marB="45725" marR="91450" marL="91450" anchor="ctr">
                    <a:solidFill>
                      <a:srgbClr val="FCE7DD"/>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B33939"/>
                        </a:buClr>
                        <a:buSzPts val="2175"/>
                        <a:buFont typeface="Helvetica Neue"/>
                        <a:buNone/>
                      </a:pPr>
                      <a:r>
                        <a:rPr b="1" lang="en-US" sz="2175">
                          <a:solidFill>
                            <a:srgbClr val="B33939"/>
                          </a:solidFill>
                          <a:latin typeface="Helvetica Neue"/>
                          <a:ea typeface="Helvetica Neue"/>
                          <a:cs typeface="Helvetica Neue"/>
                          <a:sym typeface="Helvetica Neue"/>
                        </a:rPr>
                        <a:t>1</a:t>
                      </a:r>
                      <a:endParaRPr/>
                    </a:p>
                  </a:txBody>
                  <a:tcPr marT="45725" marB="45725" marR="91450" marL="91450" anchor="ctr">
                    <a:solidFill>
                      <a:srgbClr val="FCE7DD"/>
                    </a:solidFill>
                  </a:tcPr>
                </a:tc>
              </a:tr>
            </a:tbl>
          </a:graphicData>
        </a:graphic>
      </p:graphicFrame>
      <p:sp>
        <p:nvSpPr>
          <p:cNvPr id="150" name="Google Shape;150;p15"/>
          <p:cNvSpPr/>
          <p:nvPr/>
        </p:nvSpPr>
        <p:spPr>
          <a:xfrm>
            <a:off x="647700" y="4191000"/>
            <a:ext cx="5334000" cy="8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975">
                <a:solidFill>
                  <a:srgbClr val="007F7A"/>
                </a:solidFill>
                <a:latin typeface="Helvetica Neue"/>
                <a:ea typeface="Helvetica Neue"/>
                <a:cs typeface="Helvetica Neue"/>
                <a:sym typeface="Helvetica Neue"/>
              </a:rPr>
              <a:t>Distancia = 2</a:t>
            </a:r>
            <a:endParaRPr/>
          </a:p>
        </p:txBody>
      </p:sp>
      <p:sp>
        <p:nvSpPr>
          <p:cNvPr id="151" name="Google Shape;151;p15"/>
          <p:cNvSpPr/>
          <p:nvPr/>
        </p:nvSpPr>
        <p:spPr>
          <a:xfrm>
            <a:off x="6629400" y="4210050"/>
            <a:ext cx="4572000" cy="1047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75">
                <a:solidFill>
                  <a:srgbClr val="122A35"/>
                </a:solidFill>
                <a:latin typeface="Helvetica Neue"/>
                <a:ea typeface="Helvetica Neue"/>
                <a:cs typeface="Helvetica Neue"/>
                <a:sym typeface="Helvetica Neue"/>
              </a:rPr>
              <a:t>Si el umbral fuera 2,</a:t>
            </a:r>
            <a:endParaRPr/>
          </a:p>
          <a:p>
            <a:pPr indent="0" lvl="0" marL="0" marR="0" rtl="0" algn="l">
              <a:spcBef>
                <a:spcPts val="0"/>
              </a:spcBef>
              <a:spcAft>
                <a:spcPts val="0"/>
              </a:spcAft>
              <a:buNone/>
            </a:pPr>
            <a:r>
              <a:rPr b="0" lang="en-US" sz="2475">
                <a:solidFill>
                  <a:srgbClr val="122A35"/>
                </a:solidFill>
                <a:latin typeface="Helvetica Neue"/>
                <a:ea typeface="Helvetica Neue"/>
                <a:cs typeface="Helvetica Neue"/>
                <a:sym typeface="Helvetica Neue"/>
              </a:rPr>
              <a:t>esta huella se aceptaría.</a:t>
            </a:r>
            <a:endParaRPr/>
          </a:p>
        </p:txBody>
      </p:sp>
      <p:sp>
        <p:nvSpPr>
          <p:cNvPr id="152" name="Google Shape;152;p15"/>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Ejemplo de 8 bits. PISV compara 64 bits y acepta cuando distancia ≤ umbral.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57" name="Shape 157"/>
        <p:cNvGrpSpPr/>
        <p:nvPr/>
      </p:nvGrpSpPr>
      <p:grpSpPr>
        <a:xfrm>
          <a:off x="0" y="0"/>
          <a:ext cx="0" cy="0"/>
          <a:chOff x="0" y="0"/>
          <a:chExt cx="0" cy="0"/>
        </a:xfrm>
      </p:grpSpPr>
      <p:sp>
        <p:nvSpPr>
          <p:cNvPr id="158" name="Google Shape;158;p16"/>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HMAC-SHA256: autenticación de la referencia</a:t>
            </a:r>
            <a:endParaRPr/>
          </a:p>
        </p:txBody>
      </p:sp>
      <p:sp>
        <p:nvSpPr>
          <p:cNvPr id="159" name="Google Shape;159;p16"/>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09</a:t>
            </a:r>
            <a:endParaRPr/>
          </a:p>
        </p:txBody>
      </p:sp>
      <p:sp>
        <p:nvSpPr>
          <p:cNvPr id="160" name="Google Shape;160;p16"/>
          <p:cNvSpPr/>
          <p:nvPr/>
        </p:nvSpPr>
        <p:spPr>
          <a:xfrm>
            <a:off x="647700" y="1704975"/>
            <a:ext cx="5143500" cy="5048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007F7A"/>
                </a:solidFill>
                <a:latin typeface="Helvetica Neue"/>
                <a:ea typeface="Helvetica Neue"/>
                <a:cs typeface="Helvetica Neue"/>
                <a:sym typeface="Helvetica Neue"/>
              </a:rPr>
              <a:t>Mensaje protegido</a:t>
            </a:r>
            <a:endParaRPr/>
          </a:p>
        </p:txBody>
      </p:sp>
      <p:sp>
        <p:nvSpPr>
          <p:cNvPr id="161" name="Google Shape;161;p16"/>
          <p:cNvSpPr/>
          <p:nvPr/>
        </p:nvSpPr>
        <p:spPr>
          <a:xfrm>
            <a:off x="647700" y="2571750"/>
            <a:ext cx="5143500" cy="2324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00">
                <a:solidFill>
                  <a:srgbClr val="122A35"/>
                </a:solidFill>
                <a:latin typeface="Helvetica Neue"/>
                <a:ea typeface="Helvetica Neue"/>
                <a:cs typeface="Helvetica Neue"/>
                <a:sym typeface="Helvetica Neue"/>
              </a:rPr>
              <a:t>dHash original</a:t>
            </a:r>
            <a:endParaRPr/>
          </a:p>
          <a:p>
            <a:pPr indent="0" lvl="0" marL="0" marR="0" rtl="0" algn="l">
              <a:spcBef>
                <a:spcPts val="0"/>
              </a:spcBef>
              <a:spcAft>
                <a:spcPts val="0"/>
              </a:spcAft>
              <a:buNone/>
            </a:pPr>
            <a:r>
              <a:rPr b="0" lang="en-US" sz="2400">
                <a:solidFill>
                  <a:srgbClr val="122A35"/>
                </a:solidFill>
                <a:latin typeface="Helvetica Neue"/>
                <a:ea typeface="Helvetica Neue"/>
                <a:cs typeface="Helvetica Neue"/>
                <a:sym typeface="Helvetica Neue"/>
              </a:rPr>
              <a:t>Identificador de imagen</a:t>
            </a:r>
            <a:endParaRPr/>
          </a:p>
          <a:p>
            <a:pPr indent="0" lvl="0" marL="0" marR="0" rtl="0" algn="l">
              <a:spcBef>
                <a:spcPts val="0"/>
              </a:spcBef>
              <a:spcAft>
                <a:spcPts val="0"/>
              </a:spcAft>
              <a:buNone/>
            </a:pPr>
            <a:r>
              <a:rPr b="0" lang="en-US" sz="2400">
                <a:solidFill>
                  <a:srgbClr val="122A35"/>
                </a:solidFill>
                <a:latin typeface="Helvetica Neue"/>
                <a:ea typeface="Helvetica Neue"/>
                <a:cs typeface="Helvetica Neue"/>
                <a:sym typeface="Helvetica Neue"/>
              </a:rPr>
              <a:t>Nonce</a:t>
            </a:r>
            <a:endParaRPr/>
          </a:p>
          <a:p>
            <a:pPr indent="0" lvl="0" marL="0" marR="0" rtl="0" algn="l">
              <a:spcBef>
                <a:spcPts val="0"/>
              </a:spcBef>
              <a:spcAft>
                <a:spcPts val="0"/>
              </a:spcAft>
              <a:buNone/>
            </a:pPr>
            <a:r>
              <a:rPr b="0" lang="en-US" sz="2400">
                <a:solidFill>
                  <a:srgbClr val="122A35"/>
                </a:solidFill>
                <a:latin typeface="Helvetica Neue"/>
                <a:ea typeface="Helvetica Neue"/>
                <a:cs typeface="Helvetica Neue"/>
                <a:sym typeface="Helvetica Neue"/>
              </a:rPr>
              <a:t>Versión y algoritmo</a:t>
            </a:r>
            <a:endParaRPr/>
          </a:p>
        </p:txBody>
      </p:sp>
      <p:sp>
        <p:nvSpPr>
          <p:cNvPr id="162" name="Google Shape;162;p16"/>
          <p:cNvSpPr/>
          <p:nvPr/>
        </p:nvSpPr>
        <p:spPr>
          <a:xfrm>
            <a:off x="6343650" y="1704975"/>
            <a:ext cx="520065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235A9F"/>
                </a:solidFill>
                <a:latin typeface="Helvetica Neue"/>
                <a:ea typeface="Helvetica Neue"/>
                <a:cs typeface="Helvetica Neue"/>
                <a:sym typeface="Helvetica Neue"/>
              </a:rPr>
              <a:t>Etiqueta = HMAC(clave, mensaje)</a:t>
            </a:r>
            <a:endParaRPr/>
          </a:p>
        </p:txBody>
      </p:sp>
      <p:sp>
        <p:nvSpPr>
          <p:cNvPr id="163" name="Google Shape;163;p16"/>
          <p:cNvSpPr/>
          <p:nvPr/>
        </p:nvSpPr>
        <p:spPr>
          <a:xfrm>
            <a:off x="6343650" y="2867025"/>
            <a:ext cx="5200650" cy="21621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325">
                <a:solidFill>
                  <a:srgbClr val="122A35"/>
                </a:solidFill>
                <a:latin typeface="Helvetica Neue"/>
                <a:ea typeface="Helvetica Neue"/>
                <a:cs typeface="Helvetica Neue"/>
                <a:sym typeface="Helvetica Neue"/>
              </a:rPr>
              <a:t>El emisor genera la etiqueta.</a:t>
            </a:r>
            <a:endParaRPr/>
          </a:p>
          <a:p>
            <a:pPr indent="0" lvl="0" marL="0" marR="0" rtl="0" algn="l">
              <a:spcBef>
                <a:spcPts val="0"/>
              </a:spcBef>
              <a:spcAft>
                <a:spcPts val="0"/>
              </a:spcAft>
              <a:buNone/>
            </a:pPr>
            <a:r>
              <a:t/>
            </a:r>
            <a:endParaRPr b="0" sz="2325">
              <a:solidFill>
                <a:srgbClr val="122A35"/>
              </a:solidFill>
              <a:latin typeface="Helvetica Neue"/>
              <a:ea typeface="Helvetica Neue"/>
              <a:cs typeface="Helvetica Neue"/>
              <a:sym typeface="Helvetica Neue"/>
            </a:endParaRPr>
          </a:p>
          <a:p>
            <a:pPr indent="0" lvl="0" marL="0" marR="0" rtl="0" algn="l">
              <a:spcBef>
                <a:spcPts val="0"/>
              </a:spcBef>
              <a:spcAft>
                <a:spcPts val="0"/>
              </a:spcAft>
              <a:buNone/>
            </a:pPr>
            <a:r>
              <a:rPr b="0" lang="en-US" sz="2325">
                <a:solidFill>
                  <a:srgbClr val="122A35"/>
                </a:solidFill>
                <a:latin typeface="Helvetica Neue"/>
                <a:ea typeface="Helvetica Neue"/>
                <a:cs typeface="Helvetica Neue"/>
                <a:sym typeface="Helvetica Neue"/>
              </a:rPr>
              <a:t>El receptor la recalcula y compara antes de evaluar la imagen.</a:t>
            </a:r>
            <a:endParaRPr/>
          </a:p>
        </p:txBody>
      </p:sp>
      <p:sp>
        <p:nvSpPr>
          <p:cNvPr id="164" name="Google Shape;164;p16"/>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Protege la autenticidad de la referencia. Requiere clave compartida y control confiable.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69" name="Shape 169"/>
        <p:cNvGrpSpPr/>
        <p:nvPr/>
      </p:nvGrpSpPr>
      <p:grpSpPr>
        <a:xfrm>
          <a:off x="0" y="0"/>
          <a:ext cx="0" cy="0"/>
          <a:chOff x="0" y="0"/>
          <a:chExt cx="0" cy="0"/>
        </a:xfrm>
      </p:grpSpPr>
      <p:sp>
        <p:nvSpPr>
          <p:cNvPr id="170" name="Google Shape;170;p17"/>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Orden de verificación en el receptor</a:t>
            </a:r>
            <a:endParaRPr/>
          </a:p>
        </p:txBody>
      </p:sp>
      <p:sp>
        <p:nvSpPr>
          <p:cNvPr id="171" name="Google Shape;171;p17"/>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10</a:t>
            </a:r>
            <a:endParaRPr/>
          </a:p>
        </p:txBody>
      </p:sp>
      <p:sp>
        <p:nvSpPr>
          <p:cNvPr id="172" name="Google Shape;172;p17"/>
          <p:cNvSpPr/>
          <p:nvPr/>
        </p:nvSpPr>
        <p:spPr>
          <a:xfrm>
            <a:off x="628650" y="1638300"/>
            <a:ext cx="6667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007F7A"/>
                </a:solidFill>
                <a:latin typeface="Helvetica Neue"/>
                <a:ea typeface="Helvetica Neue"/>
                <a:cs typeface="Helvetica Neue"/>
                <a:sym typeface="Helvetica Neue"/>
              </a:rPr>
              <a:t>1</a:t>
            </a:r>
            <a:endParaRPr/>
          </a:p>
        </p:txBody>
      </p:sp>
      <p:sp>
        <p:nvSpPr>
          <p:cNvPr id="173" name="Google Shape;173;p17"/>
          <p:cNvSpPr/>
          <p:nvPr/>
        </p:nvSpPr>
        <p:spPr>
          <a:xfrm>
            <a:off x="1447800" y="1638300"/>
            <a:ext cx="9715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122A35"/>
                </a:solidFill>
                <a:latin typeface="Helvetica Neue"/>
                <a:ea typeface="Helvetica Neue"/>
                <a:cs typeface="Helvetica Neue"/>
                <a:sym typeface="Helvetica Neue"/>
              </a:rPr>
              <a:t>Autenticar el control</a:t>
            </a:r>
            <a:endParaRPr/>
          </a:p>
        </p:txBody>
      </p:sp>
      <p:sp>
        <p:nvSpPr>
          <p:cNvPr id="174" name="Google Shape;174;p17"/>
          <p:cNvSpPr/>
          <p:nvPr/>
        </p:nvSpPr>
        <p:spPr>
          <a:xfrm>
            <a:off x="1447800" y="2095500"/>
            <a:ext cx="9620250" cy="723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506773"/>
                </a:solidFill>
                <a:latin typeface="Helvetica Neue"/>
                <a:ea typeface="Helvetica Neue"/>
                <a:cs typeface="Helvetica Neue"/>
                <a:sym typeface="Helvetica Neue"/>
              </a:rPr>
              <a:t>Revisar formato, HMAC e identificador esperado.</a:t>
            </a:r>
            <a:endParaRPr/>
          </a:p>
        </p:txBody>
      </p:sp>
      <p:sp>
        <p:nvSpPr>
          <p:cNvPr id="175" name="Google Shape;175;p17"/>
          <p:cNvSpPr/>
          <p:nvPr/>
        </p:nvSpPr>
        <p:spPr>
          <a:xfrm>
            <a:off x="628650" y="3038475"/>
            <a:ext cx="6667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007F7A"/>
                </a:solidFill>
                <a:latin typeface="Helvetica Neue"/>
                <a:ea typeface="Helvetica Neue"/>
                <a:cs typeface="Helvetica Neue"/>
                <a:sym typeface="Helvetica Neue"/>
              </a:rPr>
              <a:t>2</a:t>
            </a:r>
            <a:endParaRPr/>
          </a:p>
        </p:txBody>
      </p:sp>
      <p:sp>
        <p:nvSpPr>
          <p:cNvPr id="176" name="Google Shape;176;p17"/>
          <p:cNvSpPr/>
          <p:nvPr/>
        </p:nvSpPr>
        <p:spPr>
          <a:xfrm>
            <a:off x="1447800" y="3038475"/>
            <a:ext cx="9715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122A35"/>
                </a:solidFill>
                <a:latin typeface="Helvetica Neue"/>
                <a:ea typeface="Helvetica Neue"/>
                <a:cs typeface="Helvetica Neue"/>
                <a:sym typeface="Helvetica Neue"/>
              </a:rPr>
              <a:t>Comprobar el nonce</a:t>
            </a:r>
            <a:endParaRPr/>
          </a:p>
        </p:txBody>
      </p:sp>
      <p:sp>
        <p:nvSpPr>
          <p:cNvPr id="177" name="Google Shape;177;p17"/>
          <p:cNvSpPr/>
          <p:nvPr/>
        </p:nvSpPr>
        <p:spPr>
          <a:xfrm>
            <a:off x="1447800" y="3495675"/>
            <a:ext cx="9620250" cy="723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506773"/>
                </a:solidFill>
                <a:latin typeface="Helvetica Neue"/>
                <a:ea typeface="Helvetica Neue"/>
                <a:cs typeface="Helvetica Neue"/>
                <a:sym typeface="Helvetica Neue"/>
              </a:rPr>
              <a:t>Nonce: identificador aleatorio del envío. Rechazar si ya se usó.</a:t>
            </a:r>
            <a:endParaRPr/>
          </a:p>
        </p:txBody>
      </p:sp>
      <p:sp>
        <p:nvSpPr>
          <p:cNvPr id="178" name="Google Shape;178;p17"/>
          <p:cNvSpPr/>
          <p:nvPr/>
        </p:nvSpPr>
        <p:spPr>
          <a:xfrm>
            <a:off x="628650" y="4438650"/>
            <a:ext cx="66675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007F7A"/>
                </a:solidFill>
                <a:latin typeface="Helvetica Neue"/>
                <a:ea typeface="Helvetica Neue"/>
                <a:cs typeface="Helvetica Neue"/>
                <a:sym typeface="Helvetica Neue"/>
              </a:rPr>
              <a:t>3</a:t>
            </a:r>
            <a:endParaRPr/>
          </a:p>
        </p:txBody>
      </p:sp>
      <p:sp>
        <p:nvSpPr>
          <p:cNvPr id="179" name="Google Shape;179;p17"/>
          <p:cNvSpPr/>
          <p:nvPr/>
        </p:nvSpPr>
        <p:spPr>
          <a:xfrm>
            <a:off x="1447800" y="4438650"/>
            <a:ext cx="9715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122A35"/>
                </a:solidFill>
                <a:latin typeface="Helvetica Neue"/>
                <a:ea typeface="Helvetica Neue"/>
                <a:cs typeface="Helvetica Neue"/>
                <a:sym typeface="Helvetica Neue"/>
              </a:rPr>
              <a:t>Comparar la reconstrucción</a:t>
            </a:r>
            <a:endParaRPr/>
          </a:p>
        </p:txBody>
      </p:sp>
      <p:sp>
        <p:nvSpPr>
          <p:cNvPr id="180" name="Google Shape;180;p17"/>
          <p:cNvSpPr/>
          <p:nvPr/>
        </p:nvSpPr>
        <p:spPr>
          <a:xfrm>
            <a:off x="1447800" y="4895850"/>
            <a:ext cx="9620250" cy="723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950">
                <a:solidFill>
                  <a:srgbClr val="506773"/>
                </a:solidFill>
                <a:latin typeface="Helvetica Neue"/>
                <a:ea typeface="Helvetica Neue"/>
                <a:cs typeface="Helvetica Neue"/>
                <a:sym typeface="Helvetica Neue"/>
              </a:rPr>
              <a:t>Calcular dHash y Hamming. Aceptar si la distancia no supera el umbral.</a:t>
            </a:r>
            <a:endParaRPr/>
          </a:p>
        </p:txBody>
      </p:sp>
      <p:sp>
        <p:nvSpPr>
          <p:cNvPr id="181" name="Google Shape;181;p17"/>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Ejemplo de replay: repetir una referencia válida falla cuando el receptor conserva su registro.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186" name="Shape 186"/>
        <p:cNvGrpSpPr/>
        <p:nvPr/>
      </p:nvGrpSpPr>
      <p:grpSpPr>
        <a:xfrm>
          <a:off x="0" y="0"/>
          <a:ext cx="0" cy="0"/>
          <a:chOff x="0" y="0"/>
          <a:chExt cx="0" cy="0"/>
        </a:xfrm>
      </p:grpSpPr>
      <p:sp>
        <p:nvSpPr>
          <p:cNvPr id="187" name="Google Shape;187;p18"/>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Ejemplo real: preparación en el emisor</a:t>
            </a:r>
            <a:endParaRPr/>
          </a:p>
        </p:txBody>
      </p:sp>
      <p:sp>
        <p:nvSpPr>
          <p:cNvPr id="188" name="Google Shape;188;p18"/>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11</a:t>
            </a:r>
            <a:endParaRPr/>
          </a:p>
        </p:txBody>
      </p:sp>
      <p:pic>
        <p:nvPicPr>
          <p:cNvPr id="189" name="Google Shape;189;p18"/>
          <p:cNvPicPr preferRelativeResize="0"/>
          <p:nvPr/>
        </p:nvPicPr>
        <p:blipFill rotWithShape="1">
          <a:blip r:embed="rId3">
            <a:alphaModFix/>
          </a:blip>
          <a:srcRect b="0" l="0" r="0" t="0"/>
          <a:stretch/>
        </p:blipFill>
        <p:spPr>
          <a:xfrm>
            <a:off x="666750" y="1819275"/>
            <a:ext cx="3000375" cy="3000375"/>
          </a:xfrm>
          <a:prstGeom prst="rect">
            <a:avLst/>
          </a:prstGeom>
          <a:noFill/>
          <a:ln>
            <a:noFill/>
          </a:ln>
        </p:spPr>
      </p:pic>
      <p:sp>
        <p:nvSpPr>
          <p:cNvPr id="190" name="Google Shape;190;p18"/>
          <p:cNvSpPr/>
          <p:nvPr/>
        </p:nvSpPr>
        <p:spPr>
          <a:xfrm>
            <a:off x="628650" y="5067300"/>
            <a:ext cx="3286125" cy="6953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800">
                <a:solidFill>
                  <a:srgbClr val="506773"/>
                </a:solidFill>
                <a:latin typeface="Helvetica Neue"/>
                <a:ea typeface="Helvetica Neue"/>
                <a:cs typeface="Helvetica Neue"/>
                <a:sym typeface="Helvetica Neue"/>
              </a:rPr>
              <a:t>CIFAR-10 test, imagen 310</a:t>
            </a:r>
            <a:endParaRPr/>
          </a:p>
        </p:txBody>
      </p:sp>
      <p:sp>
        <p:nvSpPr>
          <p:cNvPr id="191" name="Google Shape;191;p18"/>
          <p:cNvSpPr/>
          <p:nvPr/>
        </p:nvSpPr>
        <p:spPr>
          <a:xfrm>
            <a:off x="4333875" y="1685925"/>
            <a:ext cx="7048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007F7A"/>
                </a:solidFill>
                <a:latin typeface="Helvetica Neue"/>
                <a:ea typeface="Helvetica Neue"/>
                <a:cs typeface="Helvetica Neue"/>
                <a:sym typeface="Helvetica Neue"/>
              </a:rPr>
              <a:t>1  Preparar la imagen</a:t>
            </a:r>
            <a:endParaRPr/>
          </a:p>
        </p:txBody>
      </p:sp>
      <p:sp>
        <p:nvSpPr>
          <p:cNvPr id="192" name="Google Shape;192;p18"/>
          <p:cNvSpPr/>
          <p:nvPr/>
        </p:nvSpPr>
        <p:spPr>
          <a:xfrm>
            <a:off x="4333875" y="2190750"/>
            <a:ext cx="7048500" cy="5048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32 × 32 píxeles RGB, valores entre 0 y 1.</a:t>
            </a:r>
            <a:endParaRPr/>
          </a:p>
        </p:txBody>
      </p:sp>
      <p:sp>
        <p:nvSpPr>
          <p:cNvPr id="193" name="Google Shape;193;p18"/>
          <p:cNvSpPr/>
          <p:nvPr/>
        </p:nvSpPr>
        <p:spPr>
          <a:xfrm>
            <a:off x="4333875" y="3000375"/>
            <a:ext cx="704850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007F7A"/>
                </a:solidFill>
                <a:latin typeface="Helvetica Neue"/>
                <a:ea typeface="Helvetica Neue"/>
                <a:cs typeface="Helvetica Neue"/>
                <a:sym typeface="Helvetica Neue"/>
              </a:rPr>
              <a:t>2  Obtener la representación JSCC</a:t>
            </a:r>
            <a:endParaRPr/>
          </a:p>
        </p:txBody>
      </p:sp>
      <p:sp>
        <p:nvSpPr>
          <p:cNvPr id="194" name="Google Shape;194;p18"/>
          <p:cNvSpPr/>
          <p:nvPr/>
        </p:nvSpPr>
        <p:spPr>
          <a:xfrm>
            <a:off x="4333875" y="3495675"/>
            <a:ext cx="7048500" cy="600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22A35"/>
                </a:solidFill>
                <a:latin typeface="Helvetica Neue"/>
                <a:ea typeface="Helvetica Neue"/>
                <a:cs typeface="Helvetica Neue"/>
                <a:sym typeface="Helvetica Neue"/>
              </a:rPr>
              <a:t>El encoder produce un tensor de 128 × 4 × 4.</a:t>
            </a:r>
            <a:endParaRPr/>
          </a:p>
        </p:txBody>
      </p:sp>
      <p:sp>
        <p:nvSpPr>
          <p:cNvPr id="195" name="Google Shape;195;p18"/>
          <p:cNvSpPr/>
          <p:nvPr/>
        </p:nvSpPr>
        <p:spPr>
          <a:xfrm>
            <a:off x="4333875" y="4314825"/>
            <a:ext cx="704850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007F7A"/>
                </a:solidFill>
                <a:latin typeface="Helvetica Neue"/>
                <a:ea typeface="Helvetica Neue"/>
                <a:cs typeface="Helvetica Neue"/>
                <a:sym typeface="Helvetica Neue"/>
              </a:rPr>
              <a:t>3  Crear la referencia autenticada</a:t>
            </a:r>
            <a:endParaRPr/>
          </a:p>
        </p:txBody>
      </p:sp>
      <p:sp>
        <p:nvSpPr>
          <p:cNvPr id="196" name="Google Shape;196;p18"/>
          <p:cNvSpPr/>
          <p:nvPr/>
        </p:nvSpPr>
        <p:spPr>
          <a:xfrm>
            <a:off x="4333875" y="4848225"/>
            <a:ext cx="7048500" cy="4381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122A35"/>
                </a:solidFill>
                <a:latin typeface="Helvetica Neue"/>
                <a:ea typeface="Helvetica Neue"/>
                <a:cs typeface="Helvetica Neue"/>
                <a:sym typeface="Helvetica Neue"/>
              </a:rPr>
              <a:t>dHash: 00000c0693df8f13</a:t>
            </a:r>
            <a:endParaRPr/>
          </a:p>
        </p:txBody>
      </p:sp>
      <p:sp>
        <p:nvSpPr>
          <p:cNvPr id="197" name="Google Shape;197;p18"/>
          <p:cNvSpPr/>
          <p:nvPr/>
        </p:nvSpPr>
        <p:spPr>
          <a:xfrm>
            <a:off x="4333875" y="5362575"/>
            <a:ext cx="7048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22A35"/>
                </a:solidFill>
                <a:latin typeface="Helvetica Neue"/>
                <a:ea typeface="Helvetica Neue"/>
                <a:cs typeface="Helvetica Neue"/>
                <a:sym typeface="Helvetica Neue"/>
              </a:rPr>
              <a:t>Se agregan ID, nonce, versión, algoritmo y HMAC.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02" name="Shape 202"/>
        <p:cNvGrpSpPr/>
        <p:nvPr/>
      </p:nvGrpSpPr>
      <p:grpSpPr>
        <a:xfrm>
          <a:off x="0" y="0"/>
          <a:ext cx="0" cy="0"/>
          <a:chOff x="0" y="0"/>
          <a:chExt cx="0" cy="0"/>
        </a:xfrm>
      </p:grpSpPr>
      <p:sp>
        <p:nvSpPr>
          <p:cNvPr id="203" name="Google Shape;203;p19"/>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Ejemplo real: recepción y decisión</a:t>
            </a:r>
            <a:endParaRPr/>
          </a:p>
        </p:txBody>
      </p:sp>
      <p:sp>
        <p:nvSpPr>
          <p:cNvPr id="204" name="Google Shape;204;p19"/>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12</a:t>
            </a:r>
            <a:endParaRPr/>
          </a:p>
        </p:txBody>
      </p:sp>
      <p:pic>
        <p:nvPicPr>
          <p:cNvPr id="205" name="Google Shape;205;p19"/>
          <p:cNvPicPr preferRelativeResize="0"/>
          <p:nvPr/>
        </p:nvPicPr>
        <p:blipFill rotWithShape="1">
          <a:blip r:embed="rId3">
            <a:alphaModFix/>
          </a:blip>
          <a:srcRect b="0" l="0" r="0" t="0"/>
          <a:stretch/>
        </p:blipFill>
        <p:spPr>
          <a:xfrm>
            <a:off x="666750" y="1828800"/>
            <a:ext cx="3000375" cy="3000375"/>
          </a:xfrm>
          <a:prstGeom prst="rect">
            <a:avLst/>
          </a:prstGeom>
          <a:noFill/>
          <a:ln>
            <a:noFill/>
          </a:ln>
        </p:spPr>
      </p:pic>
      <p:sp>
        <p:nvSpPr>
          <p:cNvPr id="206" name="Google Shape;206;p19"/>
          <p:cNvSpPr/>
          <p:nvPr/>
        </p:nvSpPr>
        <p:spPr>
          <a:xfrm>
            <a:off x="619125" y="5067300"/>
            <a:ext cx="3333750" cy="6667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800">
                <a:solidFill>
                  <a:srgbClr val="506773"/>
                </a:solidFill>
                <a:latin typeface="Helvetica Neue"/>
                <a:ea typeface="Helvetica Neue"/>
                <a:cs typeface="Helvetica Neue"/>
                <a:sym typeface="Helvetica Neue"/>
              </a:rPr>
              <a:t>Reconstrucción con sigma 0,2</a:t>
            </a:r>
            <a:endParaRPr/>
          </a:p>
        </p:txBody>
      </p:sp>
      <p:sp>
        <p:nvSpPr>
          <p:cNvPr id="207" name="Google Shape;207;p19"/>
          <p:cNvSpPr/>
          <p:nvPr/>
        </p:nvSpPr>
        <p:spPr>
          <a:xfrm>
            <a:off x="4333875" y="1619250"/>
            <a:ext cx="706755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007F7A"/>
                </a:solidFill>
                <a:latin typeface="Helvetica Neue"/>
                <a:ea typeface="Helvetica Neue"/>
                <a:cs typeface="Helvetica Neue"/>
                <a:sym typeface="Helvetica Neue"/>
              </a:rPr>
              <a:t>4  El decoder reconstruye la imagen</a:t>
            </a:r>
            <a:endParaRPr/>
          </a:p>
        </p:txBody>
      </p:sp>
      <p:sp>
        <p:nvSpPr>
          <p:cNvPr id="208" name="Google Shape;208;p19"/>
          <p:cNvSpPr/>
          <p:nvPr/>
        </p:nvSpPr>
        <p:spPr>
          <a:xfrm>
            <a:off x="4333875" y="2324100"/>
            <a:ext cx="7067550" cy="7334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007F7A"/>
                </a:solidFill>
                <a:latin typeface="Helvetica Neue"/>
                <a:ea typeface="Helvetica Neue"/>
                <a:cs typeface="Helvetica Neue"/>
                <a:sym typeface="Helvetica Neue"/>
              </a:rPr>
              <a:t>5  HMAC válido, ID correcto y nonce nuevo</a:t>
            </a:r>
            <a:endParaRPr/>
          </a:p>
        </p:txBody>
      </p:sp>
      <p:sp>
        <p:nvSpPr>
          <p:cNvPr id="209" name="Google Shape;209;p19"/>
          <p:cNvSpPr/>
          <p:nvPr/>
        </p:nvSpPr>
        <p:spPr>
          <a:xfrm>
            <a:off x="4333875" y="3257550"/>
            <a:ext cx="70675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007F7A"/>
                </a:solidFill>
                <a:latin typeface="Helvetica Neue"/>
                <a:ea typeface="Helvetica Neue"/>
                <a:cs typeface="Helvetica Neue"/>
                <a:sym typeface="Helvetica Neue"/>
              </a:rPr>
              <a:t>6  Comparar las huellas de 64 bits</a:t>
            </a:r>
            <a:endParaRPr/>
          </a:p>
        </p:txBody>
      </p:sp>
      <p:sp>
        <p:nvSpPr>
          <p:cNvPr id="210" name="Google Shape;210;p19"/>
          <p:cNvSpPr/>
          <p:nvPr/>
        </p:nvSpPr>
        <p:spPr>
          <a:xfrm>
            <a:off x="4333875" y="3886200"/>
            <a:ext cx="71628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22A35"/>
                </a:solidFill>
                <a:latin typeface="Helvetica Neue"/>
                <a:ea typeface="Helvetica Neue"/>
                <a:cs typeface="Helvetica Neue"/>
                <a:sym typeface="Helvetica Neue"/>
              </a:rPr>
              <a:t>Original:      00000c0693df8f13</a:t>
            </a:r>
            <a:endParaRPr/>
          </a:p>
          <a:p>
            <a:pPr indent="0" lvl="0" marL="0" marR="0" rtl="0" algn="l">
              <a:spcBef>
                <a:spcPts val="0"/>
              </a:spcBef>
              <a:spcAft>
                <a:spcPts val="0"/>
              </a:spcAft>
              <a:buNone/>
            </a:pPr>
            <a:r>
              <a:rPr b="0" lang="en-US" sz="2025">
                <a:solidFill>
                  <a:srgbClr val="122A35"/>
                </a:solidFill>
                <a:latin typeface="Helvetica Neue"/>
                <a:ea typeface="Helvetica Neue"/>
                <a:cs typeface="Helvetica Neue"/>
                <a:sym typeface="Helvetica Neue"/>
              </a:rPr>
              <a:t>Reconstruida: 80800c0693db8f9b</a:t>
            </a:r>
            <a:endParaRPr/>
          </a:p>
        </p:txBody>
      </p:sp>
      <p:sp>
        <p:nvSpPr>
          <p:cNvPr id="211" name="Google Shape;211;p19"/>
          <p:cNvSpPr/>
          <p:nvPr/>
        </p:nvSpPr>
        <p:spPr>
          <a:xfrm>
            <a:off x="4333875" y="4943475"/>
            <a:ext cx="3095625" cy="723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900">
                <a:solidFill>
                  <a:srgbClr val="007F7A"/>
                </a:solidFill>
                <a:latin typeface="Helvetica Neue"/>
                <a:ea typeface="Helvetica Neue"/>
                <a:cs typeface="Helvetica Neue"/>
                <a:sym typeface="Helvetica Neue"/>
              </a:rPr>
              <a:t>5 ≤ 14</a:t>
            </a:r>
            <a:endParaRPr/>
          </a:p>
        </p:txBody>
      </p:sp>
      <p:sp>
        <p:nvSpPr>
          <p:cNvPr id="212" name="Google Shape;212;p19"/>
          <p:cNvSpPr/>
          <p:nvPr/>
        </p:nvSpPr>
        <p:spPr>
          <a:xfrm>
            <a:off x="7743825" y="5000625"/>
            <a:ext cx="37909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007F7A"/>
                </a:solidFill>
                <a:latin typeface="Helvetica Neue"/>
                <a:ea typeface="Helvetica Neue"/>
                <a:cs typeface="Helvetica Neue"/>
                <a:sym typeface="Helvetica Neue"/>
              </a:rPr>
              <a:t>ACEPTADA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17" name="Shape 217"/>
        <p:cNvGrpSpPr/>
        <p:nvPr/>
      </p:nvGrpSpPr>
      <p:grpSpPr>
        <a:xfrm>
          <a:off x="0" y="0"/>
          <a:ext cx="0" cy="0"/>
          <a:chOff x="0" y="0"/>
          <a:chExt cx="0" cy="0"/>
        </a:xfrm>
      </p:grpSpPr>
      <p:sp>
        <p:nvSpPr>
          <p:cNvPr id="218" name="Google Shape;218;p20"/>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Ejemplo real: sustitución y control alterado</a:t>
            </a:r>
            <a:endParaRPr/>
          </a:p>
        </p:txBody>
      </p:sp>
      <p:sp>
        <p:nvSpPr>
          <p:cNvPr id="219" name="Google Shape;219;p20"/>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13</a:t>
            </a:r>
            <a:endParaRPr/>
          </a:p>
        </p:txBody>
      </p:sp>
      <p:pic>
        <p:nvPicPr>
          <p:cNvPr id="220" name="Google Shape;220;p20"/>
          <p:cNvPicPr preferRelativeResize="0"/>
          <p:nvPr/>
        </p:nvPicPr>
        <p:blipFill rotWithShape="1">
          <a:blip r:embed="rId3">
            <a:alphaModFix/>
          </a:blip>
          <a:srcRect b="0" l="0" r="0" t="0"/>
          <a:stretch/>
        </p:blipFill>
        <p:spPr>
          <a:xfrm>
            <a:off x="666750" y="1971675"/>
            <a:ext cx="2667000" cy="2667000"/>
          </a:xfrm>
          <a:prstGeom prst="rect">
            <a:avLst/>
          </a:prstGeom>
          <a:noFill/>
          <a:ln>
            <a:noFill/>
          </a:ln>
        </p:spPr>
      </p:pic>
      <p:sp>
        <p:nvSpPr>
          <p:cNvPr id="221" name="Google Shape;221;p20"/>
          <p:cNvSpPr/>
          <p:nvPr/>
        </p:nvSpPr>
        <p:spPr>
          <a:xfrm>
            <a:off x="619125" y="4895850"/>
            <a:ext cx="2838450" cy="685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875">
                <a:solidFill>
                  <a:srgbClr val="506773"/>
                </a:solidFill>
                <a:latin typeface="Helvetica Neue"/>
                <a:ea typeface="Helvetica Neue"/>
                <a:cs typeface="Helvetica Neue"/>
                <a:sym typeface="Helvetica Neue"/>
              </a:rPr>
              <a:t>Otra imagen del test</a:t>
            </a:r>
            <a:endParaRPr/>
          </a:p>
        </p:txBody>
      </p:sp>
      <p:graphicFrame>
        <p:nvGraphicFramePr>
          <p:cNvPr id="222" name="Google Shape;222;p20"/>
          <p:cNvGraphicFramePr/>
          <p:nvPr/>
        </p:nvGraphicFramePr>
        <p:xfrm>
          <a:off x="3886200" y="1762125"/>
          <a:ext cx="3000000" cy="3000000"/>
        </p:xfrm>
        <a:graphic>
          <a:graphicData uri="http://schemas.openxmlformats.org/drawingml/2006/table">
            <a:tbl>
              <a:tblPr>
                <a:noFill/>
                <a:tableStyleId>{B1D9FB9F-2103-4A2B-B182-7D5A0C35B3CC}</a:tableStyleId>
              </a:tblPr>
              <a:tblGrid>
                <a:gridCol w="2886075"/>
                <a:gridCol w="2524125"/>
                <a:gridCol w="2238375"/>
              </a:tblGrid>
              <a:tr h="897725">
                <a:tc>
                  <a:txBody>
                    <a:bodyPr/>
                    <a:lstStyle/>
                    <a:p>
                      <a:pPr indent="0" lvl="0" marL="0" marR="0" rtl="0" algn="l">
                        <a:spcBef>
                          <a:spcPts val="0"/>
                        </a:spcBef>
                        <a:spcAft>
                          <a:spcPts val="0"/>
                        </a:spcAft>
                        <a:buClr>
                          <a:srgbClr val="FFFFFF"/>
                        </a:buClr>
                        <a:buSzPts val="1800"/>
                        <a:buFont typeface="Helvetica Neue"/>
                        <a:buNone/>
                      </a:pPr>
                      <a:r>
                        <a:rPr b="1" lang="en-US" sz="1800">
                          <a:solidFill>
                            <a:srgbClr val="FFFFFF"/>
                          </a:solidFill>
                          <a:latin typeface="Helvetica Neue"/>
                          <a:ea typeface="Helvetica Neue"/>
                          <a:cs typeface="Helvetica Neue"/>
                          <a:sym typeface="Helvetica Neue"/>
                        </a:rPr>
                        <a:t>Caso</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800"/>
                        <a:buFont typeface="Helvetica Neue"/>
                        <a:buNone/>
                      </a:pPr>
                      <a:r>
                        <a:rPr b="1" lang="en-US" sz="1800">
                          <a:solidFill>
                            <a:srgbClr val="FFFFFF"/>
                          </a:solidFill>
                          <a:latin typeface="Helvetica Neue"/>
                          <a:ea typeface="Helvetica Neue"/>
                          <a:cs typeface="Helvetica Neue"/>
                          <a:sym typeface="Helvetica Neue"/>
                        </a:rPr>
                        <a:t>Comprobación</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800"/>
                        <a:buFont typeface="Helvetica Neue"/>
                        <a:buNone/>
                      </a:pPr>
                      <a:r>
                        <a:rPr b="1" lang="en-US" sz="1800">
                          <a:solidFill>
                            <a:srgbClr val="FFFFFF"/>
                          </a:solidFill>
                          <a:latin typeface="Helvetica Neue"/>
                          <a:ea typeface="Helvetica Neue"/>
                          <a:cs typeface="Helvetica Neue"/>
                          <a:sym typeface="Helvetica Neue"/>
                        </a:rPr>
                        <a:t>Decisión</a:t>
                      </a:r>
                      <a:endParaRPr/>
                    </a:p>
                  </a:txBody>
                  <a:tcPr marT="45725" marB="45725" marR="91450" marL="91450" anchor="ctr">
                    <a:solidFill>
                      <a:srgbClr val="102E39"/>
                    </a:solidFill>
                  </a:tcPr>
                </a:tc>
              </a:tr>
              <a:tr h="89772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Sustitución</a:t>
                      </a:r>
                      <a:endParaRPr/>
                    </a:p>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con referencia válida</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HMAC válido</a:t>
                      </a:r>
                      <a:endParaRPr/>
                    </a:p>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Hamming = 33</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Rechazar</a:t>
                      </a:r>
                      <a:endParaRPr/>
                    </a:p>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33 &gt; 14</a:t>
                      </a:r>
                      <a:endParaRPr/>
                    </a:p>
                  </a:txBody>
                  <a:tcPr marT="45725" marB="45725" marR="91450" marL="91450" anchor="ctr">
                    <a:solidFill>
                      <a:srgbClr val="FFFFFF"/>
                    </a:solidFill>
                  </a:tcPr>
                </a:tc>
              </a:tr>
              <a:tr h="89772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Huella de referencia</a:t>
                      </a:r>
                      <a:endParaRPr/>
                    </a:p>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modificada</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HMAC inválido</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Rechazar antes</a:t>
                      </a:r>
                      <a:endParaRPr/>
                    </a:p>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de comparar</a:t>
                      </a:r>
                      <a:endParaRPr/>
                    </a:p>
                  </a:txBody>
                  <a:tcPr marT="45725" marB="45725" marR="91450" marL="91450" anchor="ctr">
                    <a:solidFill>
                      <a:srgbClr val="EDF3F3"/>
                    </a:solidFill>
                  </a:tcPr>
                </a:tc>
              </a:tr>
              <a:tr h="89772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Referencia repetida</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Nonce ya registrado</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Rechazar replay</a:t>
                      </a:r>
                      <a:endParaRPr/>
                    </a:p>
                  </a:txBody>
                  <a:tcPr marT="45725" marB="45725" marR="91450" marL="91450" anchor="ctr">
                    <a:solidFill>
                      <a:srgbClr val="FFFFFF"/>
                    </a:solidFill>
                  </a:tcPr>
                </a:tc>
              </a:tr>
            </a:tbl>
          </a:graphicData>
        </a:graphic>
      </p:graphicFrame>
      <p:sp>
        <p:nvSpPr>
          <p:cNvPr id="223" name="Google Shape;223;p20"/>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La autenticación y la comparación perceptual resuelven problemas distintos.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28" name="Shape 228"/>
        <p:cNvGrpSpPr/>
        <p:nvPr/>
      </p:nvGrpSpPr>
      <p:grpSpPr>
        <a:xfrm>
          <a:off x="0" y="0"/>
          <a:ext cx="0" cy="0"/>
          <a:chOff x="0" y="0"/>
          <a:chExt cx="0" cy="0"/>
        </a:xfrm>
      </p:grpSpPr>
      <p:sp>
        <p:nvSpPr>
          <p:cNvPr id="229" name="Google Shape;229;p21"/>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Resultados favorables en el ensayo básico</a:t>
            </a:r>
            <a:endParaRPr/>
          </a:p>
        </p:txBody>
      </p:sp>
      <p:sp>
        <p:nvSpPr>
          <p:cNvPr id="230" name="Google Shape;230;p21"/>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14</a:t>
            </a:r>
            <a:endParaRPr/>
          </a:p>
        </p:txBody>
      </p:sp>
      <p:sp>
        <p:nvSpPr>
          <p:cNvPr id="231" name="Google Shape;231;p21"/>
          <p:cNvSpPr/>
          <p:nvPr/>
        </p:nvSpPr>
        <p:spPr>
          <a:xfrm>
            <a:off x="647700" y="1809750"/>
            <a:ext cx="5286375"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950">
                <a:solidFill>
                  <a:srgbClr val="007F7A"/>
                </a:solidFill>
                <a:latin typeface="Helvetica Neue"/>
                <a:ea typeface="Helvetica Neue"/>
                <a:cs typeface="Helvetica Neue"/>
                <a:sym typeface="Helvetica Neue"/>
              </a:rPr>
              <a:t>996 / 1.000</a:t>
            </a:r>
            <a:endParaRPr/>
          </a:p>
        </p:txBody>
      </p:sp>
      <p:sp>
        <p:nvSpPr>
          <p:cNvPr id="232" name="Google Shape;232;p21"/>
          <p:cNvSpPr/>
          <p:nvPr/>
        </p:nvSpPr>
        <p:spPr>
          <a:xfrm>
            <a:off x="666750" y="3067050"/>
            <a:ext cx="5181600" cy="10572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550">
                <a:solidFill>
                  <a:srgbClr val="122A35"/>
                </a:solidFill>
                <a:latin typeface="Helvetica Neue"/>
                <a:ea typeface="Helvetica Neue"/>
                <a:cs typeface="Helvetica Neue"/>
                <a:sym typeface="Helvetica Neue"/>
              </a:rPr>
              <a:t>Reconstrucciones legítimas</a:t>
            </a:r>
            <a:endParaRPr/>
          </a:p>
          <a:p>
            <a:pPr indent="0" lvl="0" marL="0" marR="0" rtl="0" algn="l">
              <a:spcBef>
                <a:spcPts val="0"/>
              </a:spcBef>
              <a:spcAft>
                <a:spcPts val="0"/>
              </a:spcAft>
              <a:buNone/>
            </a:pPr>
            <a:r>
              <a:rPr b="0" lang="en-US" sz="2550">
                <a:solidFill>
                  <a:srgbClr val="122A35"/>
                </a:solidFill>
                <a:latin typeface="Helvetica Neue"/>
                <a:ea typeface="Helvetica Neue"/>
                <a:cs typeface="Helvetica Neue"/>
                <a:sym typeface="Helvetica Neue"/>
              </a:rPr>
              <a:t>aceptadas</a:t>
            </a:r>
            <a:endParaRPr/>
          </a:p>
        </p:txBody>
      </p:sp>
      <p:sp>
        <p:nvSpPr>
          <p:cNvPr id="233" name="Google Shape;233;p21"/>
          <p:cNvSpPr/>
          <p:nvPr/>
        </p:nvSpPr>
        <p:spPr>
          <a:xfrm>
            <a:off x="6553200" y="1809750"/>
            <a:ext cx="5019675"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650">
                <a:solidFill>
                  <a:srgbClr val="235A9F"/>
                </a:solidFill>
                <a:latin typeface="Helvetica Neue"/>
                <a:ea typeface="Helvetica Neue"/>
                <a:cs typeface="Helvetica Neue"/>
                <a:sym typeface="Helvetica Neue"/>
              </a:rPr>
              <a:t>1.000 / 1.000</a:t>
            </a:r>
            <a:endParaRPr/>
          </a:p>
        </p:txBody>
      </p:sp>
      <p:sp>
        <p:nvSpPr>
          <p:cNvPr id="234" name="Google Shape;234;p21"/>
          <p:cNvSpPr/>
          <p:nvPr/>
        </p:nvSpPr>
        <p:spPr>
          <a:xfrm>
            <a:off x="6572250" y="3067050"/>
            <a:ext cx="4972050" cy="10572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550">
                <a:solidFill>
                  <a:srgbClr val="122A35"/>
                </a:solidFill>
                <a:latin typeface="Helvetica Neue"/>
                <a:ea typeface="Helvetica Neue"/>
                <a:cs typeface="Helvetica Neue"/>
                <a:sym typeface="Helvetica Neue"/>
              </a:rPr>
              <a:t>Sustituciones aleatorias</a:t>
            </a:r>
            <a:endParaRPr/>
          </a:p>
          <a:p>
            <a:pPr indent="0" lvl="0" marL="0" marR="0" rtl="0" algn="l">
              <a:spcBef>
                <a:spcPts val="0"/>
              </a:spcBef>
              <a:spcAft>
                <a:spcPts val="0"/>
              </a:spcAft>
              <a:buNone/>
            </a:pPr>
            <a:r>
              <a:rPr b="0" lang="en-US" sz="2550">
                <a:solidFill>
                  <a:srgbClr val="122A35"/>
                </a:solidFill>
                <a:latin typeface="Helvetica Neue"/>
                <a:ea typeface="Helvetica Neue"/>
                <a:cs typeface="Helvetica Neue"/>
                <a:sym typeface="Helvetica Neue"/>
              </a:rPr>
              <a:t>rechazadas</a:t>
            </a:r>
            <a:endParaRPr/>
          </a:p>
        </p:txBody>
      </p:sp>
      <p:sp>
        <p:nvSpPr>
          <p:cNvPr id="235" name="Google Shape;235;p21"/>
          <p:cNvSpPr/>
          <p:nvPr/>
        </p:nvSpPr>
        <p:spPr>
          <a:xfrm>
            <a:off x="666750" y="4667250"/>
            <a:ext cx="5143500" cy="5810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625">
                <a:solidFill>
                  <a:srgbClr val="007F7A"/>
                </a:solidFill>
                <a:latin typeface="Helvetica Neue"/>
                <a:ea typeface="Helvetica Neue"/>
                <a:cs typeface="Helvetica Neue"/>
                <a:sym typeface="Helvetica Neue"/>
              </a:rPr>
              <a:t>FRR: 0,4 %</a:t>
            </a:r>
            <a:endParaRPr/>
          </a:p>
        </p:txBody>
      </p:sp>
      <p:sp>
        <p:nvSpPr>
          <p:cNvPr id="236" name="Google Shape;236;p21"/>
          <p:cNvSpPr/>
          <p:nvPr/>
        </p:nvSpPr>
        <p:spPr>
          <a:xfrm>
            <a:off x="6553200" y="4667250"/>
            <a:ext cx="5048250" cy="8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75">
                <a:solidFill>
                  <a:srgbClr val="235A9F"/>
                </a:solidFill>
                <a:latin typeface="Helvetica Neue"/>
                <a:ea typeface="Helvetica Neue"/>
                <a:cs typeface="Helvetica Neue"/>
                <a:sym typeface="Helvetica Neue"/>
              </a:rPr>
              <a:t>FAR de sustitución: 0,0 %</a:t>
            </a:r>
            <a:endParaRPr/>
          </a:p>
        </p:txBody>
      </p:sp>
      <p:sp>
        <p:nvSpPr>
          <p:cNvPr id="237" name="Google Shape;237;p21"/>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Sigma 0,2, umbral 14. Resultado de esta muestra, no una garantía frente a cualquier ataque.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42" name="Shape 242"/>
        <p:cNvGrpSpPr/>
        <p:nvPr/>
      </p:nvGrpSpPr>
      <p:grpSpPr>
        <a:xfrm>
          <a:off x="0" y="0"/>
          <a:ext cx="0" cy="0"/>
          <a:chOff x="0" y="0"/>
          <a:chExt cx="0" cy="0"/>
        </a:xfrm>
      </p:grpSpPr>
      <p:sp>
        <p:nvSpPr>
          <p:cNvPr id="243" name="Google Shape;243;p22"/>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Efecto del ruido sobre la aceptación</a:t>
            </a:r>
            <a:endParaRPr/>
          </a:p>
        </p:txBody>
      </p:sp>
      <p:sp>
        <p:nvSpPr>
          <p:cNvPr id="244" name="Google Shape;244;p22"/>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15</a:t>
            </a:r>
            <a:endParaRPr/>
          </a:p>
        </p:txBody>
      </p:sp>
      <p:pic>
        <p:nvPicPr>
          <p:cNvPr id="245" name="Google Shape;245;p22"/>
          <p:cNvPicPr preferRelativeResize="0"/>
          <p:nvPr/>
        </p:nvPicPr>
        <p:blipFill rotWithShape="1">
          <a:blip r:embed="rId3">
            <a:alphaModFix/>
          </a:blip>
          <a:srcRect b="0" l="0" r="0" t="0"/>
          <a:stretch/>
        </p:blipFill>
        <p:spPr>
          <a:xfrm>
            <a:off x="609600" y="1724025"/>
            <a:ext cx="7810500" cy="3781425"/>
          </a:xfrm>
          <a:prstGeom prst="rect">
            <a:avLst/>
          </a:prstGeom>
          <a:noFill/>
          <a:ln>
            <a:noFill/>
          </a:ln>
        </p:spPr>
      </p:pic>
      <p:sp>
        <p:nvSpPr>
          <p:cNvPr id="246" name="Google Shape;246;p22"/>
          <p:cNvSpPr/>
          <p:nvPr/>
        </p:nvSpPr>
        <p:spPr>
          <a:xfrm>
            <a:off x="8858250" y="2257425"/>
            <a:ext cx="2667000" cy="7524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75">
                <a:solidFill>
                  <a:srgbClr val="007F7A"/>
                </a:solidFill>
                <a:latin typeface="Helvetica Neue"/>
                <a:ea typeface="Helvetica Neue"/>
                <a:cs typeface="Helvetica Neue"/>
                <a:sym typeface="Helvetica Neue"/>
              </a:rPr>
              <a:t>99,6 %</a:t>
            </a:r>
            <a:endParaRPr/>
          </a:p>
        </p:txBody>
      </p:sp>
      <p:sp>
        <p:nvSpPr>
          <p:cNvPr id="247" name="Google Shape;247;p22"/>
          <p:cNvSpPr/>
          <p:nvPr/>
        </p:nvSpPr>
        <p:spPr>
          <a:xfrm>
            <a:off x="8867775" y="3086100"/>
            <a:ext cx="260985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22A35"/>
                </a:solidFill>
                <a:latin typeface="Helvetica Neue"/>
                <a:ea typeface="Helvetica Neue"/>
                <a:cs typeface="Helvetica Neue"/>
                <a:sym typeface="Helvetica Neue"/>
              </a:rPr>
              <a:t>con sigma 0,2</a:t>
            </a:r>
            <a:endParaRPr/>
          </a:p>
        </p:txBody>
      </p:sp>
      <p:sp>
        <p:nvSpPr>
          <p:cNvPr id="248" name="Google Shape;248;p22"/>
          <p:cNvSpPr/>
          <p:nvPr/>
        </p:nvSpPr>
        <p:spPr>
          <a:xfrm>
            <a:off x="8858250" y="3981450"/>
            <a:ext cx="2667000" cy="7524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75">
                <a:solidFill>
                  <a:srgbClr val="235A9F"/>
                </a:solidFill>
                <a:latin typeface="Helvetica Neue"/>
                <a:ea typeface="Helvetica Neue"/>
                <a:cs typeface="Helvetica Neue"/>
                <a:sym typeface="Helvetica Neue"/>
              </a:rPr>
              <a:t>86,6 %</a:t>
            </a:r>
            <a:endParaRPr/>
          </a:p>
        </p:txBody>
      </p:sp>
      <p:sp>
        <p:nvSpPr>
          <p:cNvPr id="249" name="Google Shape;249;p22"/>
          <p:cNvSpPr/>
          <p:nvPr/>
        </p:nvSpPr>
        <p:spPr>
          <a:xfrm>
            <a:off x="8867775" y="4810125"/>
            <a:ext cx="260985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22A35"/>
                </a:solidFill>
                <a:latin typeface="Helvetica Neue"/>
                <a:ea typeface="Helvetica Neue"/>
                <a:cs typeface="Helvetica Neue"/>
                <a:sym typeface="Helvetica Neue"/>
              </a:rPr>
              <a:t>con sigma 1,0</a:t>
            </a:r>
            <a:endParaRPr/>
          </a:p>
        </p:txBody>
      </p:sp>
      <p:sp>
        <p:nvSpPr>
          <p:cNvPr id="250" name="Google Shape;250;p22"/>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Umbral 14. El aumento de ruido incrementa el rechazo de reconstrucciones legítimas.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55" name="Shape 255"/>
        <p:cNvGrpSpPr/>
        <p:nvPr/>
      </p:nvGrpSpPr>
      <p:grpSpPr>
        <a:xfrm>
          <a:off x="0" y="0"/>
          <a:ext cx="0" cy="0"/>
          <a:chOff x="0" y="0"/>
          <a:chExt cx="0" cy="0"/>
        </a:xfrm>
      </p:grpSpPr>
      <p:sp>
        <p:nvSpPr>
          <p:cNvPr id="256" name="Google Shape;256;p23"/>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Límite observado: cambios localizados</a:t>
            </a:r>
            <a:endParaRPr/>
          </a:p>
        </p:txBody>
      </p:sp>
      <p:sp>
        <p:nvSpPr>
          <p:cNvPr id="257" name="Google Shape;257;p23"/>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16</a:t>
            </a:r>
            <a:endParaRPr/>
          </a:p>
        </p:txBody>
      </p:sp>
      <p:pic>
        <p:nvPicPr>
          <p:cNvPr id="258" name="Google Shape;258;p23"/>
          <p:cNvPicPr preferRelativeResize="0"/>
          <p:nvPr/>
        </p:nvPicPr>
        <p:blipFill rotWithShape="1">
          <a:blip r:embed="rId3">
            <a:alphaModFix/>
          </a:blip>
          <a:srcRect b="0" l="0" r="0" t="0"/>
          <a:stretch/>
        </p:blipFill>
        <p:spPr>
          <a:xfrm>
            <a:off x="666750" y="1838325"/>
            <a:ext cx="3048000" cy="3048000"/>
          </a:xfrm>
          <a:prstGeom prst="rect">
            <a:avLst/>
          </a:prstGeom>
          <a:noFill/>
          <a:ln>
            <a:noFill/>
          </a:ln>
        </p:spPr>
      </p:pic>
      <p:sp>
        <p:nvSpPr>
          <p:cNvPr id="259" name="Google Shape;259;p23"/>
          <p:cNvSpPr/>
          <p:nvPr/>
        </p:nvSpPr>
        <p:spPr>
          <a:xfrm>
            <a:off x="619125" y="5067300"/>
            <a:ext cx="3286125" cy="723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875">
                <a:solidFill>
                  <a:srgbClr val="506773"/>
                </a:solidFill>
                <a:latin typeface="Helvetica Neue"/>
                <a:ea typeface="Helvetica Neue"/>
                <a:cs typeface="Helvetica Neue"/>
                <a:sym typeface="Helvetica Neue"/>
              </a:rPr>
              <a:t>Parche central invertido de 8 × 8</a:t>
            </a:r>
            <a:endParaRPr/>
          </a:p>
        </p:txBody>
      </p:sp>
      <p:sp>
        <p:nvSpPr>
          <p:cNvPr id="260" name="Google Shape;260;p23"/>
          <p:cNvSpPr/>
          <p:nvPr/>
        </p:nvSpPr>
        <p:spPr>
          <a:xfrm>
            <a:off x="4495800" y="1704975"/>
            <a:ext cx="6762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007F7A"/>
                </a:solidFill>
                <a:latin typeface="Helvetica Neue"/>
                <a:ea typeface="Helvetica Neue"/>
                <a:cs typeface="Helvetica Neue"/>
                <a:sym typeface="Helvetica Neue"/>
              </a:rPr>
              <a:t>HMAC válido</a:t>
            </a:r>
            <a:endParaRPr/>
          </a:p>
        </p:txBody>
      </p:sp>
      <p:sp>
        <p:nvSpPr>
          <p:cNvPr id="261" name="Google Shape;261;p23"/>
          <p:cNvSpPr/>
          <p:nvPr/>
        </p:nvSpPr>
        <p:spPr>
          <a:xfrm>
            <a:off x="4495800" y="2333625"/>
            <a:ext cx="68580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122A35"/>
                </a:solidFill>
                <a:latin typeface="Helvetica Neue"/>
                <a:ea typeface="Helvetica Neue"/>
                <a:cs typeface="Helvetica Neue"/>
                <a:sym typeface="Helvetica Neue"/>
              </a:rPr>
              <a:t>La referencia conserva su autenticidad.</a:t>
            </a:r>
            <a:endParaRPr/>
          </a:p>
        </p:txBody>
      </p:sp>
      <p:sp>
        <p:nvSpPr>
          <p:cNvPr id="262" name="Google Shape;262;p23"/>
          <p:cNvSpPr/>
          <p:nvPr/>
        </p:nvSpPr>
        <p:spPr>
          <a:xfrm>
            <a:off x="4495800" y="3305175"/>
            <a:ext cx="6858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9C5200"/>
                </a:solidFill>
                <a:latin typeface="Helvetica Neue"/>
                <a:ea typeface="Helvetica Neue"/>
                <a:cs typeface="Helvetica Neue"/>
                <a:sym typeface="Helvetica Neue"/>
              </a:rPr>
              <a:t>Hamming = 6 ≤ 14</a:t>
            </a:r>
            <a:endParaRPr/>
          </a:p>
        </p:txBody>
      </p:sp>
      <p:sp>
        <p:nvSpPr>
          <p:cNvPr id="263" name="Google Shape;263;p23"/>
          <p:cNvSpPr/>
          <p:nvPr/>
        </p:nvSpPr>
        <p:spPr>
          <a:xfrm>
            <a:off x="4495800" y="4057650"/>
            <a:ext cx="6858000" cy="6953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22A35"/>
                </a:solidFill>
                <a:latin typeface="Helvetica Neue"/>
                <a:ea typeface="Helvetica Neue"/>
                <a:cs typeface="Helvetica Neue"/>
                <a:sym typeface="Helvetica Neue"/>
              </a:rPr>
              <a:t>PISV acepta esta imagen modificada.</a:t>
            </a:r>
            <a:endParaRPr/>
          </a:p>
        </p:txBody>
      </p:sp>
      <p:sp>
        <p:nvSpPr>
          <p:cNvPr id="264" name="Google Shape;264;p23"/>
          <p:cNvSpPr/>
          <p:nvPr/>
        </p:nvSpPr>
        <p:spPr>
          <a:xfrm>
            <a:off x="4495800" y="4962525"/>
            <a:ext cx="6858000" cy="790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9C5200"/>
                </a:solidFill>
                <a:latin typeface="Helvetica Neue"/>
                <a:ea typeface="Helvetica Neue"/>
                <a:cs typeface="Helvetica Neue"/>
                <a:sym typeface="Helvetica Neue"/>
              </a:rPr>
              <a:t>95,1 % de los parches ensayados pasaron el filtro.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69" name="Shape 269"/>
        <p:cNvGrpSpPr/>
        <p:nvPr/>
      </p:nvGrpSpPr>
      <p:grpSpPr>
        <a:xfrm>
          <a:off x="0" y="0"/>
          <a:ext cx="0" cy="0"/>
          <a:chOff x="0" y="0"/>
          <a:chExt cx="0" cy="0"/>
        </a:xfrm>
      </p:grpSpPr>
      <p:sp>
        <p:nvSpPr>
          <p:cNvPr id="270" name="Google Shape;270;p24"/>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El umbral cambia el compromiso</a:t>
            </a:r>
            <a:endParaRPr/>
          </a:p>
        </p:txBody>
      </p:sp>
      <p:sp>
        <p:nvSpPr>
          <p:cNvPr id="271" name="Google Shape;271;p24"/>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17</a:t>
            </a:r>
            <a:endParaRPr/>
          </a:p>
        </p:txBody>
      </p:sp>
      <p:sp>
        <p:nvSpPr>
          <p:cNvPr id="272" name="Google Shape;272;p24"/>
          <p:cNvSpPr/>
          <p:nvPr/>
        </p:nvSpPr>
        <p:spPr>
          <a:xfrm>
            <a:off x="647700" y="1609725"/>
            <a:ext cx="10763250" cy="790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22A35"/>
                </a:solidFill>
                <a:latin typeface="Helvetica Neue"/>
                <a:ea typeface="Helvetica Neue"/>
                <a:cs typeface="Helvetica Neue"/>
                <a:sym typeface="Helvetica Neue"/>
              </a:rPr>
              <a:t>FGSM altera la entrada para aumentar el error de reconstrucción.</a:t>
            </a:r>
            <a:endParaRPr/>
          </a:p>
        </p:txBody>
      </p:sp>
      <p:graphicFrame>
        <p:nvGraphicFramePr>
          <p:cNvPr id="273" name="Google Shape;273;p24"/>
          <p:cNvGraphicFramePr/>
          <p:nvPr/>
        </p:nvGraphicFramePr>
        <p:xfrm>
          <a:off x="647700" y="2809875"/>
          <a:ext cx="3000000" cy="3000000"/>
        </p:xfrm>
        <a:graphic>
          <a:graphicData uri="http://schemas.openxmlformats.org/drawingml/2006/table">
            <a:tbl>
              <a:tblPr>
                <a:noFill/>
                <a:tableStyleId>{B1D9FB9F-2103-4A2B-B182-7D5A0C35B3CC}</a:tableStyleId>
              </a:tblPr>
              <a:tblGrid>
                <a:gridCol w="1971675"/>
                <a:gridCol w="4095750"/>
                <a:gridCol w="4762500"/>
              </a:tblGrid>
              <a:tr h="701675">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Umbral</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FGSM rechazadas</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2175"/>
                        <a:buFont typeface="Helvetica Neue"/>
                        <a:buNone/>
                      </a:pPr>
                      <a:r>
                        <a:rPr b="1" lang="en-US" sz="2175">
                          <a:solidFill>
                            <a:srgbClr val="FFFFFF"/>
                          </a:solidFill>
                          <a:latin typeface="Helvetica Neue"/>
                          <a:ea typeface="Helvetica Neue"/>
                          <a:cs typeface="Helvetica Neue"/>
                          <a:sym typeface="Helvetica Neue"/>
                        </a:rPr>
                        <a:t>Legítimas rechazadas (FRR)</a:t>
                      </a:r>
                      <a:endParaRPr/>
                    </a:p>
                  </a:txBody>
                  <a:tcPr marT="45725" marB="45725" marR="91450" marL="91450" anchor="ctr">
                    <a:solidFill>
                      <a:srgbClr val="102E39"/>
                    </a:solidFill>
                  </a:tcPr>
                </a:tc>
              </a:tr>
              <a:tr h="701675">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14</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2,5 %</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0,5 %</a:t>
                      </a:r>
                      <a:endParaRPr/>
                    </a:p>
                  </a:txBody>
                  <a:tcPr marT="45725" marB="45725" marR="91450" marL="91450" anchor="ctr">
                    <a:solidFill>
                      <a:srgbClr val="FFFFFF"/>
                    </a:solidFill>
                  </a:tcPr>
                </a:tc>
              </a:tr>
              <a:tr h="701675">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2</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86,0 %</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2175"/>
                        <a:buFont typeface="Helvetica Neue"/>
                        <a:buNone/>
                      </a:pPr>
                      <a:r>
                        <a:rPr b="0" lang="en-US" sz="2175">
                          <a:solidFill>
                            <a:srgbClr val="122A35"/>
                          </a:solidFill>
                          <a:latin typeface="Helvetica Neue"/>
                          <a:ea typeface="Helvetica Neue"/>
                          <a:cs typeface="Helvetica Neue"/>
                          <a:sym typeface="Helvetica Neue"/>
                        </a:rPr>
                        <a:t>58,0 %</a:t>
                      </a:r>
                      <a:endParaRPr/>
                    </a:p>
                  </a:txBody>
                  <a:tcPr marT="45725" marB="45725" marR="91450" marL="91450" anchor="ctr">
                    <a:solidFill>
                      <a:srgbClr val="EDF3F3"/>
                    </a:solidFill>
                  </a:tcPr>
                </a:tc>
              </a:tr>
            </a:tbl>
          </a:graphicData>
        </a:graphic>
      </p:graphicFrame>
      <p:sp>
        <p:nvSpPr>
          <p:cNvPr id="274" name="Google Shape;274;p24"/>
          <p:cNvSpPr/>
          <p:nvPr/>
        </p:nvSpPr>
        <p:spPr>
          <a:xfrm>
            <a:off x="647700" y="5305425"/>
            <a:ext cx="10810875"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325">
                <a:solidFill>
                  <a:srgbClr val="9C5200"/>
                </a:solidFill>
                <a:latin typeface="Helvetica Neue"/>
                <a:ea typeface="Helvetica Neue"/>
                <a:cs typeface="Helvetica Neue"/>
                <a:sym typeface="Helvetica Neue"/>
              </a:rPr>
              <a:t>Un filtro más estricto también descarta transmisiones útiles.</a:t>
            </a:r>
            <a:endParaRPr/>
          </a:p>
        </p:txBody>
      </p:sp>
      <p:sp>
        <p:nvSpPr>
          <p:cNvPr id="275" name="Google Shape;275;p24"/>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200 imágenes, sigma 0,2 y epsilon 0,05. FGSM aquí maximiza MSE, no evade dHash.</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80" name="Shape 280"/>
        <p:cNvGrpSpPr/>
        <p:nvPr/>
      </p:nvGrpSpPr>
      <p:grpSpPr>
        <a:xfrm>
          <a:off x="0" y="0"/>
          <a:ext cx="0" cy="0"/>
          <a:chOff x="0" y="0"/>
          <a:chExt cx="0" cy="0"/>
        </a:xfrm>
      </p:grpSpPr>
      <p:sp>
        <p:nvSpPr>
          <p:cNvPr id="281" name="Google Shape;281;p25"/>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dHash frente a otras huellas</a:t>
            </a:r>
            <a:endParaRPr/>
          </a:p>
        </p:txBody>
      </p:sp>
      <p:sp>
        <p:nvSpPr>
          <p:cNvPr id="282" name="Google Shape;282;p25"/>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18</a:t>
            </a:r>
            <a:endParaRPr/>
          </a:p>
        </p:txBody>
      </p:sp>
      <p:graphicFrame>
        <p:nvGraphicFramePr>
          <p:cNvPr id="283" name="Google Shape;283;p25"/>
          <p:cNvGraphicFramePr/>
          <p:nvPr/>
        </p:nvGraphicFramePr>
        <p:xfrm>
          <a:off x="647700" y="1733550"/>
          <a:ext cx="3000000" cy="3000000"/>
        </p:xfrm>
        <a:graphic>
          <a:graphicData uri="http://schemas.openxmlformats.org/drawingml/2006/table">
            <a:tbl>
              <a:tblPr>
                <a:noFill/>
                <a:tableStyleId>{B1D9FB9F-2103-4A2B-B182-7D5A0C35B3CC}</a:tableStyleId>
              </a:tblPr>
              <a:tblGrid>
                <a:gridCol w="2095500"/>
                <a:gridCol w="1524000"/>
                <a:gridCol w="3667125"/>
                <a:gridCol w="3543300"/>
              </a:tblGrid>
              <a:tr h="634375">
                <a:tc>
                  <a:txBody>
                    <a:bodyPr/>
                    <a:lstStyle/>
                    <a:p>
                      <a:pPr indent="0" lvl="0" marL="0" marR="0" rtl="0" algn="l">
                        <a:spcBef>
                          <a:spcPts val="0"/>
                        </a:spcBef>
                        <a:spcAft>
                          <a:spcPts val="0"/>
                        </a:spcAft>
                        <a:buClr>
                          <a:srgbClr val="FFFFFF"/>
                        </a:buClr>
                        <a:buSzPts val="1950"/>
                        <a:buFont typeface="Helvetica Neue"/>
                        <a:buNone/>
                      </a:pPr>
                      <a:r>
                        <a:rPr b="1" lang="en-US" sz="1950">
                          <a:solidFill>
                            <a:srgbClr val="FFFFFF"/>
                          </a:solidFill>
                          <a:latin typeface="Helvetica Neue"/>
                          <a:ea typeface="Helvetica Neue"/>
                          <a:cs typeface="Helvetica Neue"/>
                          <a:sym typeface="Helvetica Neue"/>
                        </a:rPr>
                        <a:t>Huella</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950"/>
                        <a:buFont typeface="Helvetica Neue"/>
                        <a:buNone/>
                      </a:pPr>
                      <a:r>
                        <a:rPr b="1" lang="en-US" sz="1950">
                          <a:solidFill>
                            <a:srgbClr val="FFFFFF"/>
                          </a:solidFill>
                          <a:latin typeface="Helvetica Neue"/>
                          <a:ea typeface="Helvetica Neue"/>
                          <a:cs typeface="Helvetica Neue"/>
                          <a:sym typeface="Helvetica Neue"/>
                        </a:rPr>
                        <a:t>Umbral</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950"/>
                        <a:buFont typeface="Helvetica Neue"/>
                        <a:buNone/>
                      </a:pPr>
                      <a:r>
                        <a:rPr b="1" lang="en-US" sz="1950">
                          <a:solidFill>
                            <a:srgbClr val="FFFFFF"/>
                          </a:solidFill>
                          <a:latin typeface="Helvetica Neue"/>
                          <a:ea typeface="Helvetica Neue"/>
                          <a:cs typeface="Helvetica Neue"/>
                          <a:sym typeface="Helvetica Neue"/>
                        </a:rPr>
                        <a:t>Legítimas aceptadas</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950"/>
                        <a:buFont typeface="Helvetica Neue"/>
                        <a:buNone/>
                      </a:pPr>
                      <a:r>
                        <a:rPr b="1" lang="en-US" sz="1950">
                          <a:solidFill>
                            <a:srgbClr val="FFFFFF"/>
                          </a:solidFill>
                          <a:latin typeface="Helvetica Neue"/>
                          <a:ea typeface="Helvetica Neue"/>
                          <a:cs typeface="Helvetica Neue"/>
                          <a:sym typeface="Helvetica Neue"/>
                        </a:rPr>
                        <a:t>Parches rechazados</a:t>
                      </a:r>
                      <a:endParaRPr/>
                    </a:p>
                  </a:txBody>
                  <a:tcPr marT="45725" marB="45725" marR="91450" marL="91450" anchor="ctr">
                    <a:solidFill>
                      <a:srgbClr val="102E39"/>
                    </a:solidFill>
                  </a:tcPr>
                </a:tc>
              </a:tr>
              <a:tr h="634375">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dHash</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14</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99,6 %</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4,9 %</a:t>
                      </a:r>
                      <a:endParaRPr/>
                    </a:p>
                  </a:txBody>
                  <a:tcPr marT="45725" marB="45725" marR="91450" marL="91450" anchor="ctr">
                    <a:solidFill>
                      <a:srgbClr val="FFFFFF"/>
                    </a:solidFill>
                  </a:tcPr>
                </a:tc>
              </a:tr>
              <a:tr h="634375">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pHash</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8</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99,6 %</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70,2 %</a:t>
                      </a:r>
                      <a:endParaRPr/>
                    </a:p>
                  </a:txBody>
                  <a:tcPr marT="45725" marB="45725" marR="91450" marL="91450" anchor="ctr">
                    <a:solidFill>
                      <a:srgbClr val="EDF3F3"/>
                    </a:solidFill>
                  </a:tcPr>
                </a:tc>
              </a:tr>
              <a:tr h="634375">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aHash</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7</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99,4 %</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17,2 %</a:t>
                      </a:r>
                      <a:endParaRPr/>
                    </a:p>
                  </a:txBody>
                  <a:tcPr marT="45725" marB="45725" marR="91450" marL="91450" anchor="ctr">
                    <a:solidFill>
                      <a:srgbClr val="FFFFFF"/>
                    </a:solidFill>
                  </a:tcPr>
                </a:tc>
              </a:tr>
              <a:tr h="634375">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wHash</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14</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99,9 %</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950"/>
                        <a:buFont typeface="Helvetica Neue"/>
                        <a:buNone/>
                      </a:pPr>
                      <a:r>
                        <a:rPr b="0" lang="en-US" sz="1950">
                          <a:solidFill>
                            <a:srgbClr val="122A35"/>
                          </a:solidFill>
                          <a:latin typeface="Helvetica Neue"/>
                          <a:ea typeface="Helvetica Neue"/>
                          <a:cs typeface="Helvetica Neue"/>
                          <a:sym typeface="Helvetica Neue"/>
                        </a:rPr>
                        <a:t>0,2 %</a:t>
                      </a:r>
                      <a:endParaRPr/>
                    </a:p>
                  </a:txBody>
                  <a:tcPr marT="45725" marB="45725" marR="91450" marL="91450" anchor="ctr">
                    <a:solidFill>
                      <a:srgbClr val="EDF3F3"/>
                    </a:solidFill>
                  </a:tcPr>
                </a:tc>
              </a:tr>
            </a:tbl>
          </a:graphicData>
        </a:graphic>
      </p:graphicFrame>
      <p:sp>
        <p:nvSpPr>
          <p:cNvPr id="284" name="Google Shape;284;p25"/>
          <p:cNvSpPr/>
          <p:nvPr/>
        </p:nvSpPr>
        <p:spPr>
          <a:xfrm>
            <a:off x="647700" y="5238750"/>
            <a:ext cx="10658475" cy="6381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007F7A"/>
                </a:solidFill>
                <a:latin typeface="Helvetica Neue"/>
                <a:ea typeface="Helvetica Neue"/>
                <a:cs typeface="Helvetica Neue"/>
                <a:sym typeface="Helvetica Neue"/>
              </a:rPr>
              <a:t>pHash detectó más parches. dHash toleró mejor que pHash el ruido fuerte.</a:t>
            </a:r>
            <a:endParaRPr/>
          </a:p>
        </p:txBody>
      </p:sp>
      <p:sp>
        <p:nvSpPr>
          <p:cNvPr id="285" name="Google Shape;285;p25"/>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Baselines externos. Umbrales calibrados fuera del test. PISV conserva dHash.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9"/>
        </a:solidFill>
      </p:bgPr>
    </p:bg>
    <p:spTree>
      <p:nvGrpSpPr>
        <p:cNvPr id="290" name="Shape 290"/>
        <p:cNvGrpSpPr/>
        <p:nvPr/>
      </p:nvGrpSpPr>
      <p:grpSpPr>
        <a:xfrm>
          <a:off x="0" y="0"/>
          <a:ext cx="0" cy="0"/>
          <a:chOff x="0" y="0"/>
          <a:chExt cx="0" cy="0"/>
        </a:xfrm>
      </p:grpSpPr>
      <p:sp>
        <p:nvSpPr>
          <p:cNvPr id="291" name="Google Shape;291;p26"/>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122A35"/>
                </a:solidFill>
                <a:latin typeface="Helvetica Neue"/>
                <a:ea typeface="Helvetica Neue"/>
                <a:cs typeface="Helvetica Neue"/>
                <a:sym typeface="Helvetica Neue"/>
              </a:rPr>
              <a:t>Herramientas utilizadas</a:t>
            </a:r>
            <a:endParaRPr/>
          </a:p>
        </p:txBody>
      </p:sp>
      <p:sp>
        <p:nvSpPr>
          <p:cNvPr id="292" name="Google Shape;292;p26"/>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506773"/>
                </a:solidFill>
                <a:latin typeface="Helvetica Neue"/>
                <a:ea typeface="Helvetica Neue"/>
                <a:cs typeface="Helvetica Neue"/>
                <a:sym typeface="Helvetica Neue"/>
              </a:rPr>
              <a:t>19</a:t>
            </a:r>
            <a:endParaRPr/>
          </a:p>
        </p:txBody>
      </p:sp>
      <p:graphicFrame>
        <p:nvGraphicFramePr>
          <p:cNvPr id="293" name="Google Shape;293;p26"/>
          <p:cNvGraphicFramePr/>
          <p:nvPr/>
        </p:nvGraphicFramePr>
        <p:xfrm>
          <a:off x="647700" y="1647825"/>
          <a:ext cx="3000000" cy="3000000"/>
        </p:xfrm>
        <a:graphic>
          <a:graphicData uri="http://schemas.openxmlformats.org/drawingml/2006/table">
            <a:tbl>
              <a:tblPr>
                <a:noFill/>
                <a:tableStyleId>{B1D9FB9F-2103-4A2B-B182-7D5A0C35B3CC}</a:tableStyleId>
              </a:tblPr>
              <a:tblGrid>
                <a:gridCol w="3667125"/>
                <a:gridCol w="7162800"/>
              </a:tblGrid>
              <a:tr h="575575">
                <a:tc>
                  <a:txBody>
                    <a:bodyPr/>
                    <a:lstStyle/>
                    <a:p>
                      <a:pPr indent="0" lvl="0" marL="0" marR="0" rtl="0" algn="l">
                        <a:spcBef>
                          <a:spcPts val="0"/>
                        </a:spcBef>
                        <a:spcAft>
                          <a:spcPts val="0"/>
                        </a:spcAft>
                        <a:buClr>
                          <a:srgbClr val="FFFFFF"/>
                        </a:buClr>
                        <a:buSzPts val="1800"/>
                        <a:buFont typeface="Helvetica Neue"/>
                        <a:buNone/>
                      </a:pPr>
                      <a:r>
                        <a:rPr b="1" lang="en-US" sz="1800">
                          <a:solidFill>
                            <a:srgbClr val="FFFFFF"/>
                          </a:solidFill>
                          <a:latin typeface="Helvetica Neue"/>
                          <a:ea typeface="Helvetica Neue"/>
                          <a:cs typeface="Helvetica Neue"/>
                          <a:sym typeface="Helvetica Neue"/>
                        </a:rPr>
                        <a:t>Herramienta</a:t>
                      </a:r>
                      <a:endParaRPr/>
                    </a:p>
                  </a:txBody>
                  <a:tcPr marT="45725" marB="45725" marR="91450" marL="91450" anchor="ctr">
                    <a:solidFill>
                      <a:srgbClr val="102E39"/>
                    </a:solidFill>
                  </a:tcPr>
                </a:tc>
                <a:tc>
                  <a:txBody>
                    <a:bodyPr/>
                    <a:lstStyle/>
                    <a:p>
                      <a:pPr indent="0" lvl="0" marL="0" marR="0" rtl="0" algn="l">
                        <a:spcBef>
                          <a:spcPts val="0"/>
                        </a:spcBef>
                        <a:spcAft>
                          <a:spcPts val="0"/>
                        </a:spcAft>
                        <a:buClr>
                          <a:srgbClr val="FFFFFF"/>
                        </a:buClr>
                        <a:buSzPts val="1800"/>
                        <a:buFont typeface="Helvetica Neue"/>
                        <a:buNone/>
                      </a:pPr>
                      <a:r>
                        <a:rPr b="1" lang="en-US" sz="1800">
                          <a:solidFill>
                            <a:srgbClr val="FFFFFF"/>
                          </a:solidFill>
                          <a:latin typeface="Helvetica Neue"/>
                          <a:ea typeface="Helvetica Neue"/>
                          <a:cs typeface="Helvetica Neue"/>
                          <a:sym typeface="Helvetica Neue"/>
                        </a:rPr>
                        <a:t>Función dentro del proyecto</a:t>
                      </a:r>
                      <a:endParaRPr/>
                    </a:p>
                  </a:txBody>
                  <a:tcPr marT="45725" marB="45725" marR="91450" marL="91450" anchor="ctr">
                    <a:solidFill>
                      <a:srgbClr val="102E39"/>
                    </a:solidFill>
                  </a:tcPr>
                </a:tc>
              </a:tr>
              <a:tr h="57557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Python y PyTorch</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Ejecutar el modelo y entrenar encoder/decoder</a:t>
                      </a:r>
                      <a:endParaRPr/>
                    </a:p>
                  </a:txBody>
                  <a:tcPr marT="45725" marB="45725" marR="91450" marL="91450" anchor="ctr">
                    <a:solidFill>
                      <a:srgbClr val="FFFFFF"/>
                    </a:solidFill>
                  </a:tcPr>
                </a:tc>
              </a:tr>
              <a:tr h="57557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Torchvision y CIFAR-10</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Cargar imágenes y convertirlas en tensores</a:t>
                      </a:r>
                      <a:endParaRPr/>
                    </a:p>
                  </a:txBody>
                  <a:tcPr marT="45725" marB="45725" marR="91450" marL="91450" anchor="ctr">
                    <a:solidFill>
                      <a:srgbClr val="EDF3F3"/>
                    </a:solidFill>
                  </a:tcPr>
                </a:tc>
              </a:tr>
              <a:tr h="57557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NumPy y Pillow</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Trabajar con matrices y formatos de imagen</a:t>
                      </a:r>
                      <a:endParaRPr/>
                    </a:p>
                  </a:txBody>
                  <a:tcPr marT="45725" marB="45725" marR="91450" marL="91450" anchor="ctr">
                    <a:solidFill>
                      <a:srgbClr val="FFFFFF"/>
                    </a:solidFill>
                  </a:tcPr>
                </a:tc>
              </a:tr>
              <a:tr h="57557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ImageHash</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Calcular dHash y los hashes de comparación</a:t>
                      </a:r>
                      <a:endParaRPr/>
                    </a:p>
                  </a:txBody>
                  <a:tcPr marT="45725" marB="45725" marR="91450" marL="91450" anchor="ctr">
                    <a:solidFill>
                      <a:srgbClr val="EDF3F3"/>
                    </a:solidFill>
                  </a:tcPr>
                </a:tc>
              </a:tr>
              <a:tr h="57557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hmac, hashlib y secrets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Autenticar referencias y generar nonces/claves</a:t>
                      </a:r>
                      <a:endParaRPr/>
                    </a:p>
                  </a:txBody>
                  <a:tcPr marT="45725" marB="45725" marR="91450" marL="91450" anchor="ctr">
                    <a:solidFill>
                      <a:srgbClr val="FFFFFF"/>
                    </a:solidFill>
                  </a:tcPr>
                </a:tc>
              </a:tr>
              <a:tr h="575575">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Matplotlib y scikit-image</a:t>
                      </a:r>
                      <a:endParaRPr/>
                    </a:p>
                  </a:txBody>
                  <a:tcPr marT="45725" marB="45725" marR="91450" marL="91450" anchor="ctr">
                    <a:solidFill>
                      <a:srgbClr val="EDF3F3"/>
                    </a:solidFill>
                  </a:tcPr>
                </a:tc>
                <a:tc>
                  <a:txBody>
                    <a:bodyPr/>
                    <a:lstStyle/>
                    <a:p>
                      <a:pPr indent="0" lvl="0" marL="0" marR="0" rtl="0" algn="l">
                        <a:spcBef>
                          <a:spcPts val="0"/>
                        </a:spcBef>
                        <a:spcAft>
                          <a:spcPts val="0"/>
                        </a:spcAft>
                        <a:buClr>
                          <a:srgbClr val="122A35"/>
                        </a:buClr>
                        <a:buSzPts val="1800"/>
                        <a:buFont typeface="Helvetica Neue"/>
                        <a:buNone/>
                      </a:pPr>
                      <a:r>
                        <a:rPr b="0" lang="en-US" sz="1800">
                          <a:solidFill>
                            <a:srgbClr val="122A35"/>
                          </a:solidFill>
                          <a:latin typeface="Helvetica Neue"/>
                          <a:ea typeface="Helvetica Neue"/>
                          <a:cs typeface="Helvetica Neue"/>
                          <a:sym typeface="Helvetica Neue"/>
                        </a:rPr>
                        <a:t>Mostrar resultados y medir SSIM en el benchmark</a:t>
                      </a:r>
                      <a:endParaRPr/>
                    </a:p>
                  </a:txBody>
                  <a:tcPr marT="45725" marB="45725" marR="91450" marL="91450" anchor="ctr">
                    <a:solidFill>
                      <a:srgbClr val="EDF3F3"/>
                    </a:solidFill>
                  </a:tcPr>
                </a:tc>
              </a:tr>
            </a:tbl>
          </a:graphicData>
        </a:graphic>
      </p:graphicFrame>
      <p:sp>
        <p:nvSpPr>
          <p:cNvPr id="294" name="Google Shape;294;p26"/>
          <p:cNvSpPr/>
          <p:nvPr/>
        </p:nvSpPr>
        <p:spPr>
          <a:xfrm>
            <a:off x="609600" y="5924550"/>
            <a:ext cx="10477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06773"/>
                </a:solidFill>
                <a:latin typeface="Helvetica Neue"/>
                <a:ea typeface="Helvetica Neue"/>
                <a:cs typeface="Helvetica Neue"/>
                <a:sym typeface="Helvetica Neue"/>
              </a:rPr>
              <a:t>El verificador principal combina dHash, Hamming y HMAC-SHA256.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E39"/>
        </a:solidFill>
      </p:bgPr>
    </p:bg>
    <p:spTree>
      <p:nvGrpSpPr>
        <p:cNvPr id="299" name="Shape 299"/>
        <p:cNvGrpSpPr/>
        <p:nvPr/>
      </p:nvGrpSpPr>
      <p:grpSpPr>
        <a:xfrm>
          <a:off x="0" y="0"/>
          <a:ext cx="0" cy="0"/>
          <a:chOff x="0" y="0"/>
          <a:chExt cx="0" cy="0"/>
        </a:xfrm>
      </p:grpSpPr>
      <p:sp>
        <p:nvSpPr>
          <p:cNvPr id="300" name="Google Shape;300;p27"/>
          <p:cNvSpPr/>
          <p:nvPr/>
        </p:nvSpPr>
        <p:spPr>
          <a:xfrm>
            <a:off x="609600" y="457200"/>
            <a:ext cx="109728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300">
                <a:solidFill>
                  <a:srgbClr val="FFFFFF"/>
                </a:solidFill>
                <a:latin typeface="Helvetica Neue"/>
                <a:ea typeface="Helvetica Neue"/>
                <a:cs typeface="Helvetica Neue"/>
                <a:sym typeface="Helvetica Neue"/>
              </a:rPr>
              <a:t>Qué demuestra PISV</a:t>
            </a:r>
            <a:endParaRPr/>
          </a:p>
        </p:txBody>
      </p:sp>
      <p:sp>
        <p:nvSpPr>
          <p:cNvPr id="301" name="Google Shape;301;p27"/>
          <p:cNvSpPr/>
          <p:nvPr/>
        </p:nvSpPr>
        <p:spPr>
          <a:xfrm>
            <a:off x="11049000" y="6400800"/>
            <a:ext cx="523875" cy="2857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lang="en-US" sz="1275">
                <a:solidFill>
                  <a:srgbClr val="ADC9D0"/>
                </a:solidFill>
                <a:latin typeface="Helvetica Neue"/>
                <a:ea typeface="Helvetica Neue"/>
                <a:cs typeface="Helvetica Neue"/>
                <a:sym typeface="Helvetica Neue"/>
              </a:rPr>
              <a:t>20</a:t>
            </a:r>
            <a:endParaRPr/>
          </a:p>
        </p:txBody>
      </p:sp>
      <p:sp>
        <p:nvSpPr>
          <p:cNvPr id="302" name="Google Shape;302;p27"/>
          <p:cNvSpPr/>
          <p:nvPr/>
        </p:nvSpPr>
        <p:spPr>
          <a:xfrm>
            <a:off x="647700" y="1790700"/>
            <a:ext cx="10572750" cy="15144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050">
                <a:solidFill>
                  <a:srgbClr val="FFFFFF"/>
                </a:solidFill>
                <a:latin typeface="Helvetica Neue"/>
                <a:ea typeface="Helvetica Neue"/>
                <a:cs typeface="Helvetica Neue"/>
                <a:sym typeface="Helvetica Neue"/>
              </a:rPr>
              <a:t>Una referencia auténtica</a:t>
            </a:r>
            <a:endParaRPr/>
          </a:p>
          <a:p>
            <a:pPr indent="0" lvl="0" marL="0" marR="0" rtl="0" algn="l">
              <a:spcBef>
                <a:spcPts val="0"/>
              </a:spcBef>
              <a:spcAft>
                <a:spcPts val="0"/>
              </a:spcAft>
              <a:buNone/>
            </a:pPr>
            <a:r>
              <a:rPr b="1" lang="en-US" sz="4050">
                <a:solidFill>
                  <a:srgbClr val="FFFFFF"/>
                </a:solidFill>
                <a:latin typeface="Helvetica Neue"/>
                <a:ea typeface="Helvetica Neue"/>
                <a:cs typeface="Helvetica Neue"/>
                <a:sym typeface="Helvetica Neue"/>
              </a:rPr>
              <a:t>y una comparación perceptual</a:t>
            </a:r>
            <a:endParaRPr/>
          </a:p>
        </p:txBody>
      </p:sp>
      <p:sp>
        <p:nvSpPr>
          <p:cNvPr id="303" name="Google Shape;303;p27"/>
          <p:cNvSpPr/>
          <p:nvPr/>
        </p:nvSpPr>
        <p:spPr>
          <a:xfrm>
            <a:off x="666750" y="3829050"/>
            <a:ext cx="10668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75">
                <a:solidFill>
                  <a:srgbClr val="BAE4DC"/>
                </a:solidFill>
                <a:latin typeface="Helvetica Neue"/>
                <a:ea typeface="Helvetica Neue"/>
                <a:cs typeface="Helvetica Neue"/>
                <a:sym typeface="Helvetica Neue"/>
              </a:rPr>
              <a:t>Los ensayos respaldan la tolerancia al ruido y el rechazo de las sustituciones probadas.</a:t>
            </a:r>
            <a:endParaRPr/>
          </a:p>
        </p:txBody>
      </p:sp>
      <p:sp>
        <p:nvSpPr>
          <p:cNvPr id="304" name="Google Shape;304;p27"/>
          <p:cNvSpPr/>
          <p:nvPr/>
        </p:nvSpPr>
        <p:spPr>
          <a:xfrm>
            <a:off x="666750" y="5095875"/>
            <a:ext cx="10668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00">
                <a:solidFill>
                  <a:srgbClr val="FFFFFF"/>
                </a:solidFill>
                <a:latin typeface="Helvetica Neue"/>
                <a:ea typeface="Helvetica Neue"/>
                <a:cs typeface="Helvetica Neue"/>
                <a:sym typeface="Helvetica Neue"/>
              </a:rPr>
              <a:t>Las alteraciones localizadas siguen siendo una limitación de investigación.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